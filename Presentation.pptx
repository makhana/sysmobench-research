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Playfair Display" charset="1" panose="00000500000000000000"/>
      <p:regular r:id="rId19"/>
    </p:embeddedFont>
    <p:embeddedFont>
      <p:font typeface="Public Sans 1" charset="1" panose="00000000000000000000"/>
      <p:regular r:id="rId20"/>
    </p:embeddedFont>
    <p:embeddedFont>
      <p:font typeface="Public Sans 1 Bold" charset="1" panose="00000000000000000000"/>
      <p:regular r:id="rId21"/>
    </p:embeddedFont>
    <p:embeddedFont>
      <p:font typeface="Public Sans 1 Italics" charset="1" panose="00000000000000000000"/>
      <p:regular r:id="rId25"/>
    </p:embeddedFont>
    <p:embeddedFont>
      <p:font typeface="Public Sans 2 Bold" charset="1" panose="00000000000000000000"/>
      <p:regular r:id="rId31"/>
    </p:embeddedFont>
    <p:embeddedFont>
      <p:font typeface="Public Sans 2 Italics" charset="1" panose="00000000000000000000"/>
      <p:regular r:id="rId32"/>
    </p:embeddedFont>
    <p:embeddedFont>
      <p:font typeface="Courier New" charset="1" panose="02070309020205020404"/>
      <p:regular r:id="rId33"/>
    </p:embeddedFont>
    <p:embeddedFont>
      <p:font typeface="Courier New Bold" charset="1" panose="02070609020205020404"/>
      <p:regular r:id="rId36"/>
    </p:embeddedFont>
    <p:embeddedFont>
      <p:font typeface="Public Sans 2" charset="1" panose="000000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25" Target="fonts/font25.fntdata" Type="http://schemas.openxmlformats.org/officeDocument/2006/relationships/font"/><Relationship Id="rId26" Target="notesSlides/notesSlide2.xml" Type="http://schemas.openxmlformats.org/officeDocument/2006/relationships/notesSlide"/><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viewProps.xml" Type="http://schemas.openxmlformats.org/officeDocument/2006/relationships/viewProps"/><Relationship Id="rId30" Target="notesSlides/notesSlide6.xml" Type="http://schemas.openxmlformats.org/officeDocument/2006/relationships/note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notesSlides/notesSlide7.xml" Type="http://schemas.openxmlformats.org/officeDocument/2006/relationships/notesSlide"/><Relationship Id="rId35" Target="notesSlides/notesSlide8.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38" Target="notesSlides/notesSlide9.xml" Type="http://schemas.openxmlformats.org/officeDocument/2006/relationships/notesSlide"/><Relationship Id="rId39" Target="notesSlides/notesSlide10.xml" Type="http://schemas.openxmlformats.org/officeDocument/2006/relationships/notesSlide"/><Relationship Id="rId4" Target="theme/theme1.xml" Type="http://schemas.openxmlformats.org/officeDocument/2006/relationships/theme"/><Relationship Id="rId40" Target="notesSlides/notesSlide11.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Today we're presenting LLM-Driven TLA+ Specification of Essential Paxos.</a:t>
            </a:r>
          </a:p>
          <a:p>
            <a:r>
              <a:rPr lang="en-US"/>
              <a:t/>
            </a:r>
          </a:p>
          <a:p>
            <a:r>
              <a:rPr lang="en-US"/>
              <a:t>Our work is motivated by a simple question:</a:t>
            </a:r>
          </a:p>
          <a:p>
            <a:r>
              <a:rPr lang="en-US"/>
              <a:t/>
            </a:r>
          </a:p>
          <a:p>
            <a:r>
              <a:rPr lang="en-US"/>
              <a:t>**Does feedback-driven prompt refinement improve the quality of LLM-generated TLA+ specifications, and are the resulting prompts transferable across Claude and GPT?**</a:t>
            </a:r>
          </a:p>
          <a:p>
            <a:r>
              <a:rPr lang="en-US"/>
              <a:t/>
            </a:r>
          </a:p>
          <a:p>
            <a:r>
              <a:rPr lang="en-US"/>
              <a:t>Everything we measured and every experiment we ran was designed to answer one of those two parts: whether iteration helps, whether successful prompts succeed as one-shots and generalize across models.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talked throughout the course that Consensus protocols like Paxos are very difficult to verify through testing alone.</a:t>
            </a:r>
          </a:p>
          <a:p>
            <a:r>
              <a:rPr lang="en-US"/>
              <a:t/>
            </a:r>
          </a:p>
          <a:p>
            <a:r>
              <a:rPr lang="en-US"/>
              <a:t>Formal methods provide stronger guarantees, but the challenge is that writing a correct TLA+ specification requires expertise in both distributed systems and formal methods.</a:t>
            </a:r>
          </a:p>
          <a:p>
            <a:r>
              <a:rPr lang="en-US"/>
              <a:t/>
            </a:r>
          </a:p>
          <a:p>
            <a:r>
              <a:rPr lang="en-US"/>
              <a:t>The idea of this project is to use an LLM to generate that specification directly from the given implementation.</a:t>
            </a:r>
          </a:p>
          <a:p>
            <a:r>
              <a:rPr lang="en-US"/>
              <a:t/>
            </a:r>
          </a:p>
          <a:p>
            <a:r>
              <a:rPr lang="en-US"/>
              <a:t>We use Essential Paxos as a case study. This is the 202-line core implementation from the cocagne/paxos repository.</a:t>
            </a:r>
          </a:p>
          <a:p>
            <a:r>
              <a:rPr lang="en-US"/>
              <a:t/>
            </a:r>
          </a:p>
          <a:p>
            <a:r>
              <a:rPr lang="en-US"/>
              <a:t>We compare two approaches:</a:t>
            </a:r>
          </a:p>
          <a:p>
            <a:r>
              <a:rPr lang="en-US"/>
              <a:t/>
            </a:r>
          </a:p>
          <a:p>
            <a:r>
              <a:rPr lang="en-US"/>
              <a:t>First, a feedback-driven refinement strategy, where verification failures are fed back into the prompt and the model generates a revised specification.</a:t>
            </a:r>
          </a:p>
          <a:p>
            <a:r>
              <a:rPr lang="en-US"/>
              <a:t/>
            </a:r>
          </a:p>
          <a:p>
            <a:r>
              <a:rPr lang="en-US"/>
              <a:t>Second, a single-pass generation strategy with a ready prompt.</a:t>
            </a:r>
          </a:p>
          <a:p>
            <a:r>
              <a:rPr lang="en-US"/>
              <a:t/>
            </a:r>
          </a:p>
          <a:p>
            <a:r>
              <a:rPr lang="en-US"/>
              <a:t>The question is whether this verification-guided iteration produces better specifications than a one-shot prompt and how well it performs across models.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evaluate generated specifications we use the SysMoBench benchmark that consists of 4 stages</a:t>
            </a:r>
          </a:p>
          <a:p>
            <a:r>
              <a:rPr lang="en-US"/>
              <a:t/>
            </a:r>
          </a:p>
          <a:p>
            <a:r>
              <a:rPr lang="en-US"/>
              <a:t>Syntax correctness, (where SANY parses the TLA+ specification), runtime correctness (where TLC successfully model-checks the specification), transition validation (where we compare the generated specification against actual execution traces from the Python implementation), invariant verification (where TLC checks expert-written Paxos safety properties ).</a:t>
            </a:r>
          </a:p>
          <a:p>
            <a:r>
              <a:rPr lang="en-US"/>
              <a:t/>
            </a:r>
          </a:p>
          <a:p>
            <a:r>
              <a:rPr lang="en-US"/>
              <a:t>I wont go into details because we all covered this paper and what these stages represent. It is just nice to notice one more time the weighting.</a:t>
            </a:r>
          </a:p>
          <a:p>
            <a:r>
              <a:rPr lang="en-US"/>
              <a:t/>
            </a:r>
          </a:p>
          <a:p>
            <a:r>
              <a:rPr lang="en-US"/>
              <a:t>Syntax and runtime each contribute 15 percent.</a:t>
            </a:r>
          </a:p>
          <a:p>
            <a:r>
              <a:rPr lang="en-US"/>
              <a:t/>
            </a:r>
          </a:p>
          <a:p>
            <a:r>
              <a:rPr lang="en-US"/>
              <a:t>Transition validation and invariants each contribute 35 percent.</a:t>
            </a:r>
          </a:p>
          <a:p>
            <a:r>
              <a:rPr lang="en-US"/>
              <a:t/>
            </a:r>
          </a:p>
          <a:p>
            <a:r>
              <a:rPr lang="en-US"/>
              <a:t>The reason is that compilation alone does not tell us whether a specification is faithful.</a:t>
            </a:r>
          </a:p>
          <a:p>
            <a:r>
              <a:rPr lang="en-US"/>
              <a:t/>
            </a:r>
          </a:p>
          <a:p>
            <a:r>
              <a:rPr lang="en-US"/>
              <a:t>A specification can compile, run, and still model the wrong system.</a:t>
            </a:r>
          </a:p>
          <a:p>
            <a:r>
              <a:rPr lang="en-US"/>
              <a:t/>
            </a:r>
          </a:p>
          <a:p>
            <a:r>
              <a:rPr lang="en-US"/>
              <a:t>Transition validation catches that model–implementation gap by asking whether the specification permits the same transitions that occur in the real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first experiment studies the refinement process itself.</a:t>
            </a:r>
          </a:p>
          <a:p>
            <a:r>
              <a:rPr lang="en-US"/>
              <a:t/>
            </a:r>
          </a:p>
          <a:p>
            <a:r>
              <a:rPr lang="en-US"/>
              <a:t>Both models start from an initial prompt and repeatedly regenerate the specification after receiving verification feedback.</a:t>
            </a:r>
          </a:p>
          <a:p>
            <a:r>
              <a:rPr lang="en-US"/>
              <a:t/>
            </a:r>
          </a:p>
          <a:p>
            <a:r>
              <a:rPr lang="en-US"/>
              <a:t>Claude required eight iterations before passing all stages.</a:t>
            </a:r>
          </a:p>
          <a:p>
            <a:r>
              <a:rPr lang="en-US"/>
              <a:t/>
            </a:r>
          </a:p>
          <a:p>
            <a:r>
              <a:rPr lang="en-US"/>
              <a:t>GPT required four.</a:t>
            </a:r>
          </a:p>
          <a:p>
            <a:r>
              <a:rPr lang="en-US"/>
              <a:t/>
            </a:r>
          </a:p>
          <a:p>
            <a:r>
              <a:rPr lang="en-US"/>
              <a:t>The important observation is that neither model succeeded on the first attempt.</a:t>
            </a:r>
          </a:p>
          <a:p>
            <a:r>
              <a:rPr lang="en-US"/>
              <a:t/>
            </a:r>
          </a:p>
          <a:p>
            <a:r>
              <a:rPr lang="en-US"/>
              <a:t>In other words, single-pass generation failed for both models.</a:t>
            </a:r>
          </a:p>
          <a:p>
            <a:r>
              <a:rPr lang="en-US"/>
              <a:t/>
            </a:r>
          </a:p>
          <a:p>
            <a:r>
              <a:rPr lang="en-US"/>
              <a:t>Even more interesting is that both models encountered essentially the same class of problems.</a:t>
            </a:r>
          </a:p>
          <a:p>
            <a:r>
              <a:rPr lang="en-US"/>
              <a:t/>
            </a:r>
          </a:p>
          <a:p>
            <a:r>
              <a:rPr lang="en-US"/>
              <a:t>They generated unbounded ballot domains</a:t>
            </a:r>
          </a:p>
          <a:p>
            <a:r>
              <a:rPr lang="en-US"/>
              <a:t/>
            </a:r>
          </a:p>
          <a:p>
            <a:r>
              <a:rPr lang="en-US"/>
              <a:t>compared TLC model values using operators such as less-than.</a:t>
            </a:r>
          </a:p>
          <a:p>
            <a:r>
              <a:rPr lang="en-US"/>
              <a:t/>
            </a:r>
          </a:p>
          <a:p>
            <a:r>
              <a:rPr lang="en-US"/>
              <a:t>And they expressed quorums using constructs that required reasoning over infinite sets.</a:t>
            </a:r>
          </a:p>
          <a:p>
            <a:r>
              <a:rPr lang="en-US"/>
              <a:t/>
            </a:r>
          </a:p>
          <a:p>
            <a:r>
              <a:rPr lang="en-US"/>
              <a:t>All of these are valid conceptual descriptions of Paxos but are incompatible with TLC's finite-state model-checking requirements.</a:t>
            </a:r>
          </a:p>
          <a:p>
            <a:r>
              <a:rPr lang="en-US"/>
              <a:t/>
            </a:r>
          </a:p>
          <a:p>
            <a:r>
              <a:rPr lang="en-US"/>
              <a:t>The models only converged after verification feedback exposed these issues and the prompts were refined accordingly.</a:t>
            </a:r>
          </a:p>
          <a:p>
            <a:r>
              <a:rPr lang="en-US"/>
              <a:t/>
            </a:r>
          </a:p>
          <a:p>
            <a:r>
              <a:rPr lang="en-US"/>
              <a:t>This directly answers the first half of our research question.</a:t>
            </a:r>
          </a:p>
          <a:p>
            <a:r>
              <a:rPr lang="en-US"/>
              <a:t/>
            </a:r>
          </a:p>
          <a:p>
            <a:r>
              <a:rPr lang="en-US"/>
              <a:t>The evidence suggests that iteration is not optional—it was necessary for both models to reach a passing specification starting from 0 and a general prompt.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Experiment 2 asks a simple question: if a prompt works on one model, does it work on the others? Are these refined prompts portable, or are they tied to the model that produced them?</a:t>
            </a:r>
          </a:p>
          <a:p>
            <a:r>
              <a:rPr lang="en-US"/>
              <a:t/>
            </a:r>
          </a:p>
          <a:p>
            <a:r>
              <a:rPr lang="en-US"/>
              <a:t>The setup: we took each model's winning prompt and swapped them. Claude's prompt into GPT, GPT's into Claude. Fresh sessions, nothing else changed.</a:t>
            </a:r>
          </a:p>
          <a:p>
            <a:r>
              <a:rPr lang="en-US"/>
              <a:t/>
            </a:r>
          </a:p>
          <a:p>
            <a:r>
              <a:rPr lang="en-US"/>
              <a:t>Both crashed. At compile time, before they even got started.</a:t>
            </a:r>
          </a:p>
          <a:p>
            <a:r>
              <a:rPr lang="en-US"/>
              <a:t/>
            </a:r>
          </a:p>
          <a:p>
            <a:r>
              <a:rPr lang="en-US"/>
              <a:t>And the failures weren't random; they were fingerprints. Claude always writes its helper operators too early, before the VARIABLES block, and SANY, the TLA+ syntax checker, rejects it. GPT trips over the NoProposal sentinel and produces invalid TLA+.</a:t>
            </a:r>
          </a:p>
          <a:p>
            <a:r>
              <a:rPr lang="en-US"/>
              <a:t/>
            </a:r>
          </a:p>
          <a:p>
            <a:r>
              <a:rPr lang="en-US"/>
              <a:t>So the lesson: a prompt isn't a general recipe, it's a key cut for one specific lock. It encodes how that particular model writes code, not portable knowledge about Paxos.</a:t>
            </a:r>
          </a:p>
          <a:p>
            <a:r>
              <a:rPr lang="en-US"/>
              <a:t/>
            </a:r>
          </a:p>
          <a:p>
            <a:r>
              <a:rPr lang="en-US"/>
              <a:t>One footnote that sets up the next slide: even when each model used its own prompt, they weren't equally good. Claude reached 78.7% conformance, GPT reached 100%, because GPT's learner reads its decisions straight from the messages in flight, exactly like the real Python code. Hold that thought.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slide unpacks WHY the cross-model swaps fail, and the point is that the failures are systematic, not flaky.</a:t>
            </a:r>
          </a:p>
          <a:p>
            <a:r>
              <a:rPr lang="en-US"/>
              <a:t/>
            </a:r>
          </a:p>
          <a:p>
            <a:r>
              <a:rPr lang="en-US"/>
              <a:t>On the left, Claude given GPT's prompt: it places the NextProposalNum helper before the VARIABLES block, so it references proposalId before it is declared. SANY, the syntax checker, rejects it with 'Unknown operator proposalId'.</a:t>
            </a:r>
          </a:p>
          <a:p>
            <a:r>
              <a:rPr lang="en-US"/>
              <a:t/>
            </a:r>
          </a:p>
          <a:p>
            <a:r>
              <a:rPr lang="en-US"/>
              <a:t>On the right, GPT given Claude's prompt: the two prompts use different no-proposal sentinels. GPT's own style defines NoProposal as an in-module tuple, explicitly not bound in the cfg; Claude's style uses a model-value constant bound in the cfg. Crossing the conventions yields invalid TLA+.</a:t>
            </a:r>
          </a:p>
          <a:p>
            <a:r>
              <a:rPr lang="en-US"/>
              <a:t/>
            </a:r>
          </a:p>
          <a:p>
            <a:r>
              <a:rPr lang="en-US"/>
              <a:t>Bottom line: each prompt silently bakes in its own model's habits, generation order and sentinel style, so it only works on the model that produced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Experiment 3 asks: now that both models produce a passing spec, what happens as we scale the protocol up, with more acceptors, more proposers, bigger ballot bounds? Which spec stays cheap to verify?</a:t>
            </a:r>
          </a:p>
          <a:p>
            <a:r>
              <a:rPr lang="en-US"/>
              <a:t/>
            </a:r>
          </a:p>
          <a:p>
            <a:r>
              <a:rPr lang="en-US"/>
              <a:t>The result is genuinely surprising. Same exact configuration: Claude explores 1,217 states. GPT explores 1.86 million. Let that land, about fifteen hundred times more, with identical settings.</a:t>
            </a:r>
          </a:p>
          <a:p>
            <a:r>
              <a:rPr lang="en-US"/>
              <a:t/>
            </a:r>
          </a:p>
          <a:p>
            <a:r>
              <a:rPr lang="en-US"/>
              <a:t>Why? One modeling choice. GPT's HandlePromise action has a stutter branch for message loss, so every promise message becomes a fork in the road: process it, or drop it. TLC has to walk both. Multiply that across every message and you get exponential blow-up.</a:t>
            </a:r>
          </a:p>
          <a:p>
            <a:r>
              <a:rPr lang="en-US"/>
              <a:t/>
            </a:r>
          </a:p>
          <a:p>
            <a:r>
              <a:rPr lang="en-US"/>
              <a:t>Here's the irony: that exact branch is what makes GPT more faithful, it's why GPT scored 100% conformance. Faithfulness has a price tag.</a:t>
            </a:r>
          </a:p>
          <a:p>
            <a:r>
              <a:rPr lang="en-US"/>
              <a:t/>
            </a:r>
          </a:p>
          <a:p>
            <a:r>
              <a:rPr lang="en-US"/>
              <a:t>So the takeaway is a classic model-checking tradeoff: the more accurate map takes far longer to walk. A better model isn't automatically a cheaper one.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mechanism behind the state-space blow-up. Look at GPT's HandlePromise: it's a disjunction of two branches. Branch one processes a fresh promise. Branch two is just UNCHANGED vars, an unguarded stutter that models the message being lost or ignored.</a:t>
            </a:r>
          </a:p>
          <a:p>
            <a:r>
              <a:rPr lang="en-US"/>
              <a:t/>
            </a:r>
          </a:p>
          <a:p>
            <a:r>
              <a:rPr lang="en-US"/>
              <a:t>Because branch two has no guard, it is always enabled. So for every promise message TLC has to explore both possibilities, process it or drop it. That doubles the branching on every message, and it compounds into exponential growth.</a:t>
            </a:r>
          </a:p>
          <a:p>
            <a:r>
              <a:rPr lang="en-US"/>
              <a:t/>
            </a:r>
          </a:p>
          <a:p>
            <a:r>
              <a:rPr lang="en-US"/>
              <a:t>That's why, on the same Small config, Claude explores 1,217 states and GPT explores 1.86 million. Claude's HandlePromise has no such stutter branch.</a:t>
            </a:r>
          </a:p>
          <a:p>
            <a:r>
              <a:rPr lang="en-US"/>
              <a:t/>
            </a:r>
          </a:p>
          <a:p>
            <a:r>
              <a:rPr lang="en-US"/>
              <a:t>The punchline: that very branch is what makes GPT faithful to real message loss and earns it 100% transition validation. So fidelity has a cost, a more accurate model is not a cheaper one.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It's important to be clear about the limitations of our study.</a:t>
            </a:r>
          </a:p>
          <a:p>
            <a:r>
              <a:rPr lang="en-US"/>
              <a:t/>
            </a:r>
          </a:p>
          <a:p>
            <a:r>
              <a:rPr lang="en-US"/>
              <a:t>First, we only model single-decree Essential Paxos, which is the compact core of the protocol. So we are not claiming that the same results automatically apply to full Paxos, Raft, or larger industrial consensus systems.</a:t>
            </a:r>
          </a:p>
          <a:p>
            <a:r>
              <a:rPr lang="en-US"/>
              <a:t/>
            </a:r>
          </a:p>
          <a:p>
            <a:r>
              <a:rPr lang="en-US"/>
              <a:t>Second, TLC gives exhaustive guarantees, but only inside the finite configurations we check. A passing run proves the invariants for that bound, not for every possible number of participants or ballots.</a:t>
            </a:r>
          </a:p>
          <a:p>
            <a:r>
              <a:rPr lang="en-US"/>
              <a:t/>
            </a:r>
          </a:p>
          <a:p>
            <a:r>
              <a:rPr lang="en-US"/>
              <a:t>Third, transition validation is useful because it checks the specification against real execution traces, but our traces cover only four deterministic scenarios. So it is a partial behavioral signal, not full coverage of all possible executions. Also, the TV stage involves an LLM agent, which introduces some risk of misclassification.</a:t>
            </a:r>
          </a:p>
          <a:p>
            <a:r>
              <a:rPr lang="en-US"/>
              <a:t/>
            </a:r>
          </a:p>
          <a:p>
            <a:r>
              <a:rPr lang="en-US"/>
              <a:t>Finally, this is a small study: one protocol, two models, and no repeated trials.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conclude, let's return to our research question.</a:t>
            </a:r>
          </a:p>
          <a:p>
            <a:r>
              <a:rPr lang="en-US"/>
              <a:t/>
            </a:r>
          </a:p>
          <a:p>
            <a:r>
              <a:rPr lang="en-US"/>
              <a:t>We asked whether feedback-driven prompt refinement improves the quality of LLM-generated TLA+ specifications.</a:t>
            </a:r>
          </a:p>
          <a:p>
            <a:r>
              <a:rPr lang="en-US"/>
              <a:t/>
            </a:r>
          </a:p>
          <a:p>
            <a:r>
              <a:rPr lang="en-US"/>
              <a:t>Based on our experiments, the answer is yes.</a:t>
            </a:r>
          </a:p>
          <a:p>
            <a:r>
              <a:rPr lang="en-US"/>
              <a:t/>
            </a:r>
          </a:p>
          <a:p>
            <a:r>
              <a:rPr lang="en-US"/>
              <a:t>Both Claude and GPT failed in the single-pass setting. They only reached passing specifications after we fed verification feedback back into the prompt refinement loop.</a:t>
            </a:r>
          </a:p>
          <a:p>
            <a:r>
              <a:rPr lang="en-US"/>
              <a:t/>
            </a:r>
          </a:p>
          <a:p>
            <a:r>
              <a:rPr lang="en-US"/>
              <a:t>But the second part of the question gives a different answer.</a:t>
            </a:r>
          </a:p>
          <a:p>
            <a:r>
              <a:rPr lang="en-US"/>
              <a:t/>
            </a:r>
          </a:p>
          <a:p>
            <a:r>
              <a:rPr lang="en-US"/>
              <a:t>Are the resulting prompts transferable across models?</a:t>
            </a:r>
          </a:p>
          <a:p>
            <a:r>
              <a:rPr lang="en-US"/>
              <a:t/>
            </a:r>
          </a:p>
          <a:p>
            <a:r>
              <a:rPr lang="en-US"/>
              <a:t>Here, the answer is no.</a:t>
            </a:r>
          </a:p>
          <a:p>
            <a:r>
              <a:rPr lang="en-US"/>
              <a:t/>
            </a:r>
          </a:p>
          <a:p>
            <a:r>
              <a:rPr lang="en-US"/>
              <a:t>Each refined prompt only worked with the model that produced it. When we swapped the prompts across Claude and GPT, both combinations failed already at compilation.</a:t>
            </a:r>
          </a:p>
          <a:p>
            <a:r>
              <a:rPr lang="en-US"/>
              <a:t/>
            </a:r>
          </a:p>
          <a:p>
            <a:r>
              <a:rPr lang="en-US"/>
              <a:t>So the broader lesson is that generating TLA+ that compiles is not the real endpoint. Compilation is only the first hurdle.</a:t>
            </a:r>
          </a:p>
          <a:p>
            <a:r>
              <a:rPr lang="en-US"/>
              <a:t/>
            </a:r>
          </a:p>
          <a:p>
            <a:r>
              <a:rPr lang="en-US"/>
              <a:t>The harder problem is semantic conformance: whether the generated specification actually matches the behavior of the implementation.</a:t>
            </a:r>
          </a:p>
          <a:p>
            <a:r>
              <a:rPr lang="en-US"/>
              <a:t/>
            </a:r>
          </a:p>
          <a:p>
            <a:r>
              <a:rPr lang="en-US"/>
              <a:t>That is why our main recommendation is not to search for one universally good prompt. Instead, the more promising direction is to build automated verification-feedback loops, where the model continuously learns from concrete SANY, TLC, trace-validation, and invariant failures.</a:t>
            </a:r>
          </a:p>
          <a:p>
            <a:r>
              <a:rPr lang="en-US"/>
              <a:t/>
            </a:r>
          </a:p>
          <a:p>
            <a:r>
              <a:rPr lang="en-US"/>
              <a:t>Overall, verification-guided refinement improved specification quality, while prompt transferability remained fragile.</a:t>
            </a:r>
          </a:p>
          <a:p>
            <a:r>
              <a:rPr lang="en-US"/>
              <a:t/>
            </a:r>
          </a:p>
          <a:p>
            <a:r>
              <a:rPr lang="en-US"/>
              <a:t>As future work, the next step is to test whether this still holds for more complex consensus protocols, such as Raft or CURP.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Thank you, and we are happy to take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706" y="4514765"/>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555424" y="8975364"/>
            <a:ext cx="2732576" cy="1311636"/>
          </a:xfrm>
          <a:custGeom>
            <a:avLst/>
            <a:gdLst/>
            <a:ahLst/>
            <a:cxnLst/>
            <a:rect r="r" b="b" t="t" l="l"/>
            <a:pathLst>
              <a:path h="1311636" w="2732576">
                <a:moveTo>
                  <a:pt x="0" y="0"/>
                </a:moveTo>
                <a:lnTo>
                  <a:pt x="2732576" y="0"/>
                </a:lnTo>
                <a:lnTo>
                  <a:pt x="2732576" y="1311636"/>
                </a:lnTo>
                <a:lnTo>
                  <a:pt x="0" y="1311636"/>
                </a:lnTo>
                <a:lnTo>
                  <a:pt x="0" y="0"/>
                </a:lnTo>
                <a:close/>
              </a:path>
            </a:pathLst>
          </a:custGeom>
          <a:blipFill>
            <a:blip r:embed="rId2"/>
            <a:stretch>
              <a:fillRect l="0" t="0" r="0" b="0"/>
            </a:stretch>
          </a:blipFill>
        </p:spPr>
      </p:sp>
      <p:sp>
        <p:nvSpPr>
          <p:cNvPr name="TextBox 4" id="4"/>
          <p:cNvSpPr txBox="true"/>
          <p:nvPr/>
        </p:nvSpPr>
        <p:spPr>
          <a:xfrm rot="0">
            <a:off x="850974" y="1132197"/>
            <a:ext cx="16408332" cy="3284302"/>
          </a:xfrm>
          <a:prstGeom prst="rect">
            <a:avLst/>
          </a:prstGeom>
        </p:spPr>
        <p:txBody>
          <a:bodyPr anchor="t" rtlCol="false" tIns="0" lIns="0" bIns="0" rIns="0">
            <a:spAutoFit/>
          </a:bodyPr>
          <a:lstStyle/>
          <a:p>
            <a:pPr algn="l">
              <a:lnSpc>
                <a:spcPts val="8427"/>
              </a:lnSpc>
            </a:pPr>
            <a:r>
              <a:rPr lang="en-US" sz="9260" spc="46">
                <a:solidFill>
                  <a:srgbClr val="2B2C30"/>
                </a:solidFill>
                <a:latin typeface="Playfair Display"/>
                <a:ea typeface="Playfair Display"/>
                <a:cs typeface="Playfair Display"/>
                <a:sym typeface="Playfair Display"/>
              </a:rPr>
              <a:t>LLM-Driven TLA+ Specification of Essential Paxos</a:t>
            </a:r>
          </a:p>
        </p:txBody>
      </p:sp>
      <p:sp>
        <p:nvSpPr>
          <p:cNvPr name="TextBox 5" id="5"/>
          <p:cNvSpPr txBox="true"/>
          <p:nvPr/>
        </p:nvSpPr>
        <p:spPr>
          <a:xfrm rot="0">
            <a:off x="1016407" y="8041005"/>
            <a:ext cx="7862435" cy="1303020"/>
          </a:xfrm>
          <a:prstGeom prst="rect">
            <a:avLst/>
          </a:prstGeom>
        </p:spPr>
        <p:txBody>
          <a:bodyPr anchor="t" rtlCol="false" tIns="0" lIns="0" bIns="0" rIns="0">
            <a:spAutoFit/>
          </a:bodyPr>
          <a:lstStyle/>
          <a:p>
            <a:pPr algn="l">
              <a:lnSpc>
                <a:spcPts val="3450"/>
              </a:lnSpc>
            </a:pPr>
            <a:r>
              <a:rPr lang="en-US" sz="2300">
                <a:solidFill>
                  <a:srgbClr val="2B2C30"/>
                </a:solidFill>
                <a:latin typeface="Public Sans 1"/>
                <a:ea typeface="Public Sans 1"/>
                <a:cs typeface="Public Sans 1"/>
                <a:sym typeface="Public Sans 1"/>
              </a:rPr>
              <a:t>Ana Mako​</a:t>
            </a:r>
          </a:p>
          <a:p>
            <a:pPr algn="l">
              <a:lnSpc>
                <a:spcPts val="3450"/>
              </a:lnSpc>
            </a:pPr>
            <a:r>
              <a:rPr lang="en-US" sz="2300">
                <a:solidFill>
                  <a:srgbClr val="2B2C30"/>
                </a:solidFill>
                <a:latin typeface="Public Sans 1"/>
                <a:ea typeface="Public Sans 1"/>
                <a:cs typeface="Public Sans 1"/>
                <a:sym typeface="Public Sans 1"/>
              </a:rPr>
              <a:t>Vuk Jurišić​</a:t>
            </a:r>
          </a:p>
          <a:p>
            <a:pPr algn="l">
              <a:lnSpc>
                <a:spcPts val="3450"/>
              </a:lnSpc>
            </a:pPr>
            <a:r>
              <a:rPr lang="en-US" sz="2300">
                <a:solidFill>
                  <a:srgbClr val="2B2C30"/>
                </a:solidFill>
                <a:latin typeface="Public Sans 1"/>
                <a:ea typeface="Public Sans 1"/>
                <a:cs typeface="Public Sans 1"/>
                <a:sym typeface="Public Sans 1"/>
              </a:rPr>
              <a:t>Giorgos Mark</a:t>
            </a:r>
            <a:r>
              <a:rPr lang="en-US" sz="2300">
                <a:solidFill>
                  <a:srgbClr val="2B2C30"/>
                </a:solidFill>
                <a:latin typeface="Public Sans 1"/>
                <a:ea typeface="Public Sans 1"/>
                <a:cs typeface="Public Sans 1"/>
                <a:sym typeface="Public Sans 1"/>
              </a:rPr>
              <a:t>ozanis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1 Bold"/>
                <a:ea typeface="Public Sans 1 Bold"/>
                <a:cs typeface="Public Sans 1 Bold"/>
                <a:sym typeface="Public Sans 1 Bold"/>
              </a:rPr>
              <a:t>AGENDA</a:t>
            </a:r>
          </a:p>
        </p:txBody>
      </p:sp>
      <p:sp>
        <p:nvSpPr>
          <p:cNvPr name="AutoShape 3" id="3"/>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TextBox 4" id="4"/>
          <p:cNvSpPr txBox="true"/>
          <p:nvPr/>
        </p:nvSpPr>
        <p:spPr>
          <a:xfrm rot="0">
            <a:off x="1028689" y="2122290"/>
            <a:ext cx="7877184" cy="5210048"/>
          </a:xfrm>
          <a:prstGeom prst="rect">
            <a:avLst/>
          </a:prstGeom>
        </p:spPr>
        <p:txBody>
          <a:bodyPr anchor="t" rtlCol="false" tIns="0" lIns="0" bIns="0" rIns="0">
            <a:spAutoFit/>
          </a:bodyPr>
          <a:lstStyle/>
          <a:p>
            <a:pPr algn="l" marL="604519" indent="-302260" lvl="1">
              <a:lnSpc>
                <a:spcPts val="5235"/>
              </a:lnSpc>
              <a:buFont typeface="Arial"/>
              <a:buChar char="•"/>
            </a:pPr>
            <a:r>
              <a:rPr lang="en-US" sz="2799">
                <a:solidFill>
                  <a:srgbClr val="2B2C30"/>
                </a:solidFill>
                <a:latin typeface="Public Sans 1"/>
                <a:ea typeface="Public Sans 1"/>
                <a:cs typeface="Public Sans 1"/>
                <a:sym typeface="Public Sans 1"/>
              </a:rPr>
              <a:t>Research Question</a:t>
            </a:r>
          </a:p>
          <a:p>
            <a:pPr algn="l" marL="604519" indent="-302260" lvl="1">
              <a:lnSpc>
                <a:spcPts val="5235"/>
              </a:lnSpc>
              <a:buFont typeface="Arial"/>
              <a:buChar char="•"/>
            </a:pPr>
            <a:r>
              <a:rPr lang="en-US" sz="2799">
                <a:solidFill>
                  <a:srgbClr val="2B2C30"/>
                </a:solidFill>
                <a:latin typeface="Public Sans 1"/>
                <a:ea typeface="Public Sans 1"/>
                <a:cs typeface="Public Sans 1"/>
                <a:sym typeface="Public Sans 1"/>
              </a:rPr>
              <a:t>Problem Statement</a:t>
            </a:r>
          </a:p>
          <a:p>
            <a:pPr algn="l" marL="604519" indent="-302260" lvl="1">
              <a:lnSpc>
                <a:spcPts val="5235"/>
              </a:lnSpc>
              <a:buFont typeface="Arial"/>
              <a:buChar char="•"/>
            </a:pPr>
            <a:r>
              <a:rPr lang="en-US" sz="2799">
                <a:solidFill>
                  <a:srgbClr val="2B2C30"/>
                </a:solidFill>
                <a:latin typeface="Public Sans 1"/>
                <a:ea typeface="Public Sans 1"/>
                <a:cs typeface="Public Sans 1"/>
                <a:sym typeface="Public Sans 1"/>
              </a:rPr>
              <a:t>SysMoBench's four-stage pipeline</a:t>
            </a:r>
            <a:r>
              <a:rPr lang="en-US" sz="2799">
                <a:solidFill>
                  <a:srgbClr val="2B2C30"/>
                </a:solidFill>
                <a:latin typeface="Public Sans 1"/>
                <a:ea typeface="Public Sans 1"/>
                <a:cs typeface="Public Sans 1"/>
                <a:sym typeface="Public Sans 1"/>
              </a:rPr>
              <a:t> </a:t>
            </a:r>
          </a:p>
          <a:p>
            <a:pPr algn="l" marL="604519" indent="-302260" lvl="1">
              <a:lnSpc>
                <a:spcPts val="5235"/>
              </a:lnSpc>
              <a:buFont typeface="Arial"/>
              <a:buChar char="•"/>
            </a:pPr>
            <a:r>
              <a:rPr lang="en-US" sz="2799">
                <a:solidFill>
                  <a:srgbClr val="2B2C30"/>
                </a:solidFill>
                <a:latin typeface="Public Sans 1"/>
                <a:ea typeface="Public Sans 1"/>
                <a:cs typeface="Public Sans 1"/>
                <a:sym typeface="Public Sans 1"/>
              </a:rPr>
              <a:t>Experiment 1</a:t>
            </a:r>
          </a:p>
          <a:p>
            <a:pPr algn="l" marL="604519" indent="-302260" lvl="1">
              <a:lnSpc>
                <a:spcPts val="5235"/>
              </a:lnSpc>
              <a:buFont typeface="Arial"/>
              <a:buChar char="•"/>
            </a:pPr>
            <a:r>
              <a:rPr lang="en-US" sz="2799">
                <a:solidFill>
                  <a:srgbClr val="2B2C30"/>
                </a:solidFill>
                <a:latin typeface="Public Sans 1"/>
                <a:ea typeface="Public Sans 1"/>
                <a:cs typeface="Public Sans 1"/>
                <a:sym typeface="Public Sans 1"/>
              </a:rPr>
              <a:t>Experiment 2</a:t>
            </a:r>
          </a:p>
          <a:p>
            <a:pPr algn="l" marL="604519" indent="-302260" lvl="1">
              <a:lnSpc>
                <a:spcPts val="5235"/>
              </a:lnSpc>
              <a:buFont typeface="Arial"/>
              <a:buChar char="•"/>
            </a:pPr>
            <a:r>
              <a:rPr lang="en-US" sz="2799">
                <a:solidFill>
                  <a:srgbClr val="2B2C30"/>
                </a:solidFill>
                <a:latin typeface="Public Sans 1"/>
                <a:ea typeface="Public Sans 1"/>
                <a:cs typeface="Public Sans 1"/>
                <a:sym typeface="Public Sans 1"/>
              </a:rPr>
              <a:t>Experiment 3</a:t>
            </a:r>
          </a:p>
          <a:p>
            <a:pPr algn="l" marL="604519" indent="-302260" lvl="1">
              <a:lnSpc>
                <a:spcPts val="5235"/>
              </a:lnSpc>
              <a:buFont typeface="Arial"/>
              <a:buChar char="•"/>
            </a:pPr>
            <a:r>
              <a:rPr lang="en-US" sz="2799">
                <a:solidFill>
                  <a:srgbClr val="2B2C30"/>
                </a:solidFill>
                <a:latin typeface="Public Sans 1"/>
                <a:ea typeface="Public Sans 1"/>
                <a:cs typeface="Public Sans 1"/>
                <a:sym typeface="Public Sans 1"/>
              </a:rPr>
              <a:t>Limitations</a:t>
            </a:r>
          </a:p>
          <a:p>
            <a:pPr algn="l" marL="604519" indent="-302260" lvl="1">
              <a:lnSpc>
                <a:spcPts val="5235"/>
              </a:lnSpc>
              <a:buFont typeface="Arial"/>
              <a:buChar char="•"/>
            </a:pPr>
            <a:r>
              <a:rPr lang="en-US" sz="2799">
                <a:solidFill>
                  <a:srgbClr val="2B2C30"/>
                </a:solidFill>
                <a:latin typeface="Public Sans 1"/>
                <a:ea typeface="Public Sans 1"/>
                <a:cs typeface="Public Sans 1"/>
                <a:sym typeface="Public Sans 1"/>
              </a:rPr>
              <a:t>Conclusion</a:t>
            </a:r>
          </a:p>
        </p:txBody>
      </p:sp>
      <p:sp>
        <p:nvSpPr>
          <p:cNvPr name="Freeform 5" id="5"/>
          <p:cNvSpPr/>
          <p:nvPr/>
        </p:nvSpPr>
        <p:spPr>
          <a:xfrm flipH="false" flipV="false" rot="0">
            <a:off x="15555424" y="8975364"/>
            <a:ext cx="2732576" cy="1311636"/>
          </a:xfrm>
          <a:custGeom>
            <a:avLst/>
            <a:gdLst/>
            <a:ahLst/>
            <a:cxnLst/>
            <a:rect r="r" b="b" t="t" l="l"/>
            <a:pathLst>
              <a:path h="1311636" w="2732576">
                <a:moveTo>
                  <a:pt x="0" y="0"/>
                </a:moveTo>
                <a:lnTo>
                  <a:pt x="2732576" y="0"/>
                </a:lnTo>
                <a:lnTo>
                  <a:pt x="2732576" y="1311636"/>
                </a:lnTo>
                <a:lnTo>
                  <a:pt x="0" y="1311636"/>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1 Bold"/>
                <a:ea typeface="Public Sans 1 Bold"/>
                <a:cs typeface="Public Sans 1 Bold"/>
                <a:sym typeface="Public Sans 1 Bold"/>
              </a:rPr>
              <a:t>RESEARCH QUESTION</a:t>
            </a:r>
          </a:p>
        </p:txBody>
      </p:sp>
      <p:sp>
        <p:nvSpPr>
          <p:cNvPr name="AutoShape 3" id="3"/>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TextBox 4" id="4"/>
          <p:cNvSpPr txBox="true"/>
          <p:nvPr/>
        </p:nvSpPr>
        <p:spPr>
          <a:xfrm rot="0">
            <a:off x="1028689" y="2208015"/>
            <a:ext cx="10964442" cy="1704975"/>
          </a:xfrm>
          <a:prstGeom prst="rect">
            <a:avLst/>
          </a:prstGeom>
        </p:spPr>
        <p:txBody>
          <a:bodyPr anchor="t" rtlCol="false" tIns="0" lIns="0" bIns="0" rIns="0">
            <a:spAutoFit/>
          </a:bodyPr>
          <a:lstStyle/>
          <a:p>
            <a:pPr algn="l">
              <a:lnSpc>
                <a:spcPts val="4500"/>
              </a:lnSpc>
            </a:pPr>
            <a:r>
              <a:rPr lang="en-US" sz="3000" i="true">
                <a:solidFill>
                  <a:srgbClr val="2B2C30"/>
                </a:solidFill>
                <a:latin typeface="Public Sans 1 Italics"/>
                <a:ea typeface="Public Sans 1 Italics"/>
                <a:cs typeface="Public Sans 1 Italics"/>
                <a:sym typeface="Public Sans 1 Italics"/>
              </a:rPr>
              <a:t>D</a:t>
            </a:r>
            <a:r>
              <a:rPr lang="en-US" sz="3000" i="true">
                <a:solidFill>
                  <a:srgbClr val="2B2C30"/>
                </a:solidFill>
                <a:latin typeface="Public Sans 1 Italics"/>
                <a:ea typeface="Public Sans 1 Italics"/>
                <a:cs typeface="Public Sans 1 Italics"/>
                <a:sym typeface="Public Sans 1 Italics"/>
              </a:rPr>
              <a:t>oes </a:t>
            </a:r>
            <a:r>
              <a:rPr lang="en-US" sz="3000" i="true">
                <a:solidFill>
                  <a:srgbClr val="2B2C30"/>
                </a:solidFill>
                <a:latin typeface="Public Sans 1 Italics"/>
                <a:ea typeface="Public Sans 1 Italics"/>
                <a:cs typeface="Public Sans 1 Italics"/>
                <a:sym typeface="Public Sans 1 Italics"/>
              </a:rPr>
              <a:t>feedback-driven</a:t>
            </a:r>
            <a:r>
              <a:rPr lang="en-US" sz="3000" i="true">
                <a:solidFill>
                  <a:srgbClr val="2B2C30"/>
                </a:solidFill>
                <a:latin typeface="Public Sans 1 Italics"/>
                <a:ea typeface="Public Sans 1 Italics"/>
                <a:cs typeface="Public Sans 1 Italics"/>
                <a:sym typeface="Public Sans 1 Italics"/>
              </a:rPr>
              <a:t> prompt ref</a:t>
            </a:r>
            <a:r>
              <a:rPr lang="en-US" sz="3000" i="true">
                <a:solidFill>
                  <a:srgbClr val="2B2C30"/>
                </a:solidFill>
                <a:latin typeface="Public Sans 1 Italics"/>
                <a:ea typeface="Public Sans 1 Italics"/>
                <a:cs typeface="Public Sans 1 Italics"/>
                <a:sym typeface="Public Sans 1 Italics"/>
              </a:rPr>
              <a:t>inement impr</a:t>
            </a:r>
            <a:r>
              <a:rPr lang="en-US" sz="3000" i="true">
                <a:solidFill>
                  <a:srgbClr val="2B2C30"/>
                </a:solidFill>
                <a:latin typeface="Public Sans 1 Italics"/>
                <a:ea typeface="Public Sans 1 Italics"/>
                <a:cs typeface="Public Sans 1 Italics"/>
                <a:sym typeface="Public Sans 1 Italics"/>
              </a:rPr>
              <a:t>ove the quality of LLM-gener</a:t>
            </a:r>
            <a:r>
              <a:rPr lang="en-US" sz="3000" i="true">
                <a:solidFill>
                  <a:srgbClr val="2B2C30"/>
                </a:solidFill>
                <a:latin typeface="Public Sans 1 Italics"/>
                <a:ea typeface="Public Sans 1 Italics"/>
                <a:cs typeface="Public Sans 1 Italics"/>
                <a:sym typeface="Public Sans 1 Italics"/>
              </a:rPr>
              <a:t>ated TLA+ specifications, and are the resulting prompts transferable across Claude and GPT?</a:t>
            </a:r>
          </a:p>
        </p:txBody>
      </p:sp>
      <p:sp>
        <p:nvSpPr>
          <p:cNvPr name="Freeform 5" id="5"/>
          <p:cNvSpPr/>
          <p:nvPr/>
        </p:nvSpPr>
        <p:spPr>
          <a:xfrm flipH="false" flipV="false" rot="0">
            <a:off x="15555424" y="8975364"/>
            <a:ext cx="2732576" cy="1311636"/>
          </a:xfrm>
          <a:custGeom>
            <a:avLst/>
            <a:gdLst/>
            <a:ahLst/>
            <a:cxnLst/>
            <a:rect r="r" b="b" t="t" l="l"/>
            <a:pathLst>
              <a:path h="1311636" w="2732576">
                <a:moveTo>
                  <a:pt x="0" y="0"/>
                </a:moveTo>
                <a:lnTo>
                  <a:pt x="2732576" y="0"/>
                </a:lnTo>
                <a:lnTo>
                  <a:pt x="2732576" y="1311636"/>
                </a:lnTo>
                <a:lnTo>
                  <a:pt x="0" y="1311636"/>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1 Bold"/>
                <a:ea typeface="Public Sans 1 Bold"/>
                <a:cs typeface="Public Sans 1 Bold"/>
                <a:sym typeface="Public Sans 1 Bold"/>
              </a:rPr>
              <a:t>PROBLEM STATEMENT</a:t>
            </a:r>
          </a:p>
        </p:txBody>
      </p:sp>
      <p:sp>
        <p:nvSpPr>
          <p:cNvPr name="AutoShape 3" id="3"/>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Freeform 4" id="4"/>
          <p:cNvSpPr/>
          <p:nvPr/>
        </p:nvSpPr>
        <p:spPr>
          <a:xfrm flipH="false" flipV="false" rot="0">
            <a:off x="15555424" y="8975364"/>
            <a:ext cx="2732576" cy="1311636"/>
          </a:xfrm>
          <a:custGeom>
            <a:avLst/>
            <a:gdLst/>
            <a:ahLst/>
            <a:cxnLst/>
            <a:rect r="r" b="b" t="t" l="l"/>
            <a:pathLst>
              <a:path h="1311636" w="2732576">
                <a:moveTo>
                  <a:pt x="0" y="0"/>
                </a:moveTo>
                <a:lnTo>
                  <a:pt x="2732576" y="0"/>
                </a:lnTo>
                <a:lnTo>
                  <a:pt x="2732576" y="1311636"/>
                </a:lnTo>
                <a:lnTo>
                  <a:pt x="0" y="1311636"/>
                </a:lnTo>
                <a:lnTo>
                  <a:pt x="0" y="0"/>
                </a:lnTo>
                <a:close/>
              </a:path>
            </a:pathLst>
          </a:custGeom>
          <a:blipFill>
            <a:blip r:embed="rId3"/>
            <a:stretch>
              <a:fillRect l="0" t="0" r="0" b="0"/>
            </a:stretch>
          </a:blipFill>
        </p:spPr>
      </p:sp>
      <p:sp>
        <p:nvSpPr>
          <p:cNvPr name="TextBox 5" id="5"/>
          <p:cNvSpPr txBox="true"/>
          <p:nvPr/>
        </p:nvSpPr>
        <p:spPr>
          <a:xfrm rot="0">
            <a:off x="1028689" y="2217540"/>
            <a:ext cx="9931720" cy="5444490"/>
          </a:xfrm>
          <a:prstGeom prst="rect">
            <a:avLst/>
          </a:prstGeom>
        </p:spPr>
        <p:txBody>
          <a:bodyPr anchor="t" rtlCol="false" tIns="0" lIns="0" bIns="0" rIns="0">
            <a:spAutoFit/>
          </a:bodyPr>
          <a:lstStyle/>
          <a:p>
            <a:pPr algn="l" marL="561341" indent="-280670" lvl="1">
              <a:lnSpc>
                <a:spcPts val="3900"/>
              </a:lnSpc>
              <a:buFont typeface="Arial"/>
              <a:buChar char="•"/>
            </a:pPr>
            <a:r>
              <a:rPr lang="en-US" sz="2600">
                <a:solidFill>
                  <a:srgbClr val="2B2C30"/>
                </a:solidFill>
                <a:latin typeface="Public Sans 1"/>
                <a:ea typeface="Public Sans 1"/>
                <a:cs typeface="Public Sans 1"/>
                <a:sym typeface="Public Sans 1"/>
              </a:rPr>
              <a:t>Safety </a:t>
            </a:r>
            <a:r>
              <a:rPr lang="en-US" sz="2600">
                <a:solidFill>
                  <a:srgbClr val="2B2C30"/>
                </a:solidFill>
                <a:latin typeface="Public Sans 1"/>
                <a:ea typeface="Public Sans 1"/>
                <a:cs typeface="Public Sans 1"/>
                <a:sym typeface="Public Sans 1"/>
              </a:rPr>
              <a:t>pro</a:t>
            </a:r>
            <a:r>
              <a:rPr lang="en-US" sz="2600">
                <a:solidFill>
                  <a:srgbClr val="2B2C30"/>
                </a:solidFill>
                <a:latin typeface="Public Sans 1"/>
                <a:ea typeface="Public Sans 1"/>
                <a:cs typeface="Public Sans 1"/>
                <a:sym typeface="Public Sans 1"/>
              </a:rPr>
              <a:t>p</a:t>
            </a:r>
            <a:r>
              <a:rPr lang="en-US" sz="2600">
                <a:solidFill>
                  <a:srgbClr val="2B2C30"/>
                </a:solidFill>
                <a:latin typeface="Public Sans 1"/>
                <a:ea typeface="Public Sans 1"/>
                <a:cs typeface="Public Sans 1"/>
                <a:sym typeface="Public Sans 1"/>
              </a:rPr>
              <a:t>e</a:t>
            </a:r>
            <a:r>
              <a:rPr lang="en-US" sz="2600">
                <a:solidFill>
                  <a:srgbClr val="2B2C30"/>
                </a:solidFill>
                <a:latin typeface="Public Sans 1"/>
                <a:ea typeface="Public Sans 1"/>
                <a:cs typeface="Public Sans 1"/>
                <a:sym typeface="Public Sans 1"/>
              </a:rPr>
              <a:t>rties </a:t>
            </a:r>
            <a:r>
              <a:rPr lang="en-US" sz="2600">
                <a:solidFill>
                  <a:srgbClr val="2B2C30"/>
                </a:solidFill>
                <a:latin typeface="Public Sans 1"/>
                <a:ea typeface="Public Sans 1"/>
                <a:cs typeface="Public Sans 1"/>
                <a:sym typeface="Public Sans 1"/>
              </a:rPr>
              <a:t>m</a:t>
            </a:r>
            <a:r>
              <a:rPr lang="en-US" sz="2600">
                <a:solidFill>
                  <a:srgbClr val="2B2C30"/>
                </a:solidFill>
                <a:latin typeface="Public Sans 1"/>
                <a:ea typeface="Public Sans 1"/>
                <a:cs typeface="Public Sans 1"/>
                <a:sym typeface="Public Sans 1"/>
              </a:rPr>
              <a:t>u</a:t>
            </a:r>
            <a:r>
              <a:rPr lang="en-US" sz="2600">
                <a:solidFill>
                  <a:srgbClr val="2B2C30"/>
                </a:solidFill>
                <a:latin typeface="Public Sans 1"/>
                <a:ea typeface="Public Sans 1"/>
                <a:cs typeface="Public Sans 1"/>
                <a:sym typeface="Public Sans 1"/>
              </a:rPr>
              <a:t>s</a:t>
            </a:r>
            <a:r>
              <a:rPr lang="en-US" sz="2600">
                <a:solidFill>
                  <a:srgbClr val="2B2C30"/>
                </a:solidFill>
                <a:latin typeface="Public Sans 1"/>
                <a:ea typeface="Public Sans 1"/>
                <a:cs typeface="Public Sans 1"/>
                <a:sym typeface="Public Sans 1"/>
              </a:rPr>
              <a:t>t</a:t>
            </a:r>
            <a:r>
              <a:rPr lang="en-US" sz="2600">
                <a:solidFill>
                  <a:srgbClr val="2B2C30"/>
                </a:solidFill>
                <a:latin typeface="Public Sans 1"/>
                <a:ea typeface="Public Sans 1"/>
                <a:cs typeface="Public Sans 1"/>
                <a:sym typeface="Public Sans 1"/>
              </a:rPr>
              <a:t> </a:t>
            </a:r>
            <a:r>
              <a:rPr lang="en-US" sz="2600">
                <a:solidFill>
                  <a:srgbClr val="2B2C30"/>
                </a:solidFill>
                <a:latin typeface="Public Sans 1"/>
                <a:ea typeface="Public Sans 1"/>
                <a:cs typeface="Public Sans 1"/>
                <a:sym typeface="Public Sans 1"/>
              </a:rPr>
              <a:t>hold for every execution, testing isn't eno</a:t>
            </a:r>
            <a:r>
              <a:rPr lang="en-US" sz="2600">
                <a:solidFill>
                  <a:srgbClr val="2B2C30"/>
                </a:solidFill>
                <a:latin typeface="Public Sans 1"/>
                <a:ea typeface="Public Sans 1"/>
                <a:cs typeface="Public Sans 1"/>
                <a:sym typeface="Public Sans 1"/>
              </a:rPr>
              <a:t>ugh</a:t>
            </a:r>
          </a:p>
          <a:p>
            <a:pPr algn="l" marL="561341" indent="-280670" lvl="1">
              <a:lnSpc>
                <a:spcPts val="3900"/>
              </a:lnSpc>
              <a:buFont typeface="Arial"/>
              <a:buChar char="•"/>
            </a:pPr>
            <a:r>
              <a:rPr lang="en-US" sz="2600">
                <a:solidFill>
                  <a:srgbClr val="2B2C30"/>
                </a:solidFill>
                <a:latin typeface="Public Sans 1"/>
                <a:ea typeface="Public Sans 1"/>
                <a:cs typeface="Public Sans 1"/>
                <a:sym typeface="Public Sans 1"/>
              </a:rPr>
              <a:t>TLA+ and TLC model checking gives e</a:t>
            </a:r>
            <a:r>
              <a:rPr lang="en-US" sz="2600">
                <a:solidFill>
                  <a:srgbClr val="2B2C30"/>
                </a:solidFill>
                <a:latin typeface="Public Sans 1"/>
                <a:ea typeface="Public Sans 1"/>
                <a:cs typeface="Public Sans 1"/>
                <a:sym typeface="Public Sans 1"/>
              </a:rPr>
              <a:t>xhaustive guarantees, but writing the spec needs dual expertise</a:t>
            </a:r>
          </a:p>
          <a:p>
            <a:pPr algn="l">
              <a:lnSpc>
                <a:spcPts val="3900"/>
              </a:lnSpc>
            </a:pPr>
          </a:p>
          <a:p>
            <a:pPr algn="l" marL="561341" indent="-280670" lvl="1">
              <a:lnSpc>
                <a:spcPts val="3900"/>
              </a:lnSpc>
              <a:buFont typeface="Arial"/>
              <a:buChar char="•"/>
            </a:pPr>
            <a:r>
              <a:rPr lang="en-US" b="true" sz="2600">
                <a:solidFill>
                  <a:srgbClr val="2B2C30"/>
                </a:solidFill>
                <a:latin typeface="Public Sans 1 Bold"/>
                <a:ea typeface="Public Sans 1 Bold"/>
                <a:cs typeface="Public Sans 1 Bold"/>
                <a:sym typeface="Public Sans 1 Bold"/>
              </a:rPr>
              <a:t>Idea</a:t>
            </a:r>
            <a:r>
              <a:rPr lang="en-US" sz="2600">
                <a:solidFill>
                  <a:srgbClr val="2B2C30"/>
                </a:solidFill>
                <a:latin typeface="Public Sans 1"/>
                <a:ea typeface="Public Sans 1"/>
                <a:cs typeface="Public Sans 1"/>
                <a:sym typeface="Public Sans 1"/>
              </a:rPr>
              <a:t>: have an LLM generate the spec from the implementation</a:t>
            </a:r>
          </a:p>
          <a:p>
            <a:pPr algn="l" marL="561341" indent="-280670" lvl="1">
              <a:lnSpc>
                <a:spcPts val="3900"/>
              </a:lnSpc>
              <a:buFont typeface="Arial"/>
              <a:buChar char="•"/>
            </a:pPr>
            <a:r>
              <a:rPr lang="en-US" b="true" sz="2600">
                <a:solidFill>
                  <a:srgbClr val="2B2C30"/>
                </a:solidFill>
                <a:latin typeface="Public Sans 1 Bold"/>
                <a:ea typeface="Public Sans 1 Bold"/>
                <a:cs typeface="Public Sans 1 Bold"/>
                <a:sym typeface="Public Sans 1 Bold"/>
              </a:rPr>
              <a:t>Case study</a:t>
            </a:r>
            <a:r>
              <a:rPr lang="en-US" sz="2600">
                <a:solidFill>
                  <a:srgbClr val="2B2C30"/>
                </a:solidFill>
                <a:latin typeface="Public Sans 1"/>
                <a:ea typeface="Public Sans 1"/>
                <a:cs typeface="Public Sans 1"/>
                <a:sym typeface="Public Sans 1"/>
              </a:rPr>
              <a:t>: Essential Paxos (202-line core of cocagne/paxos)</a:t>
            </a:r>
          </a:p>
          <a:p>
            <a:pPr algn="l" marL="561341" indent="-280670" lvl="1">
              <a:lnSpc>
                <a:spcPts val="3900"/>
              </a:lnSpc>
              <a:buFont typeface="Arial"/>
              <a:buChar char="•"/>
            </a:pPr>
            <a:r>
              <a:rPr lang="en-US" b="true" sz="2600">
                <a:solidFill>
                  <a:srgbClr val="2B2C30"/>
                </a:solidFill>
                <a:latin typeface="Public Sans 1 Bold"/>
                <a:ea typeface="Public Sans 1 Bold"/>
                <a:cs typeface="Public Sans 1 Bold"/>
                <a:sym typeface="Public Sans 1 Bold"/>
              </a:rPr>
              <a:t>We compare two strategies</a:t>
            </a:r>
            <a:r>
              <a:rPr lang="en-US" sz="2600">
                <a:solidFill>
                  <a:srgbClr val="2B2C30"/>
                </a:solidFill>
                <a:latin typeface="Public Sans 1"/>
                <a:ea typeface="Public Sans 1"/>
                <a:cs typeface="Public Sans 1"/>
                <a:sym typeface="Public Sans 1"/>
              </a:rPr>
              <a:t>: feedback-driven refinement vs. single-pass prompt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555424" y="8975364"/>
            <a:ext cx="2732576" cy="1311636"/>
          </a:xfrm>
          <a:custGeom>
            <a:avLst/>
            <a:gdLst/>
            <a:ahLst/>
            <a:cxnLst/>
            <a:rect r="r" b="b" t="t" l="l"/>
            <a:pathLst>
              <a:path h="1311636" w="2732576">
                <a:moveTo>
                  <a:pt x="0" y="0"/>
                </a:moveTo>
                <a:lnTo>
                  <a:pt x="2732576" y="0"/>
                </a:lnTo>
                <a:lnTo>
                  <a:pt x="2732576" y="1311636"/>
                </a:lnTo>
                <a:lnTo>
                  <a:pt x="0" y="1311636"/>
                </a:lnTo>
                <a:lnTo>
                  <a:pt x="0" y="0"/>
                </a:lnTo>
                <a:close/>
              </a:path>
            </a:pathLst>
          </a:custGeom>
          <a:blipFill>
            <a:blip r:embed="rId3"/>
            <a:stretch>
              <a:fillRect l="0" t="0" r="0" b="0"/>
            </a:stretch>
          </a:blipFill>
        </p:spPr>
      </p:sp>
      <p:sp>
        <p:nvSpPr>
          <p:cNvPr name="Freeform 4" id="4"/>
          <p:cNvSpPr/>
          <p:nvPr/>
        </p:nvSpPr>
        <p:spPr>
          <a:xfrm flipH="false" flipV="false" rot="0">
            <a:off x="1028700" y="2161610"/>
            <a:ext cx="12472845" cy="3526667"/>
          </a:xfrm>
          <a:custGeom>
            <a:avLst/>
            <a:gdLst/>
            <a:ahLst/>
            <a:cxnLst/>
            <a:rect r="r" b="b" t="t" l="l"/>
            <a:pathLst>
              <a:path h="3526667" w="12472845">
                <a:moveTo>
                  <a:pt x="0" y="0"/>
                </a:moveTo>
                <a:lnTo>
                  <a:pt x="12472845" y="0"/>
                </a:lnTo>
                <a:lnTo>
                  <a:pt x="12472845" y="3526667"/>
                </a:lnTo>
                <a:lnTo>
                  <a:pt x="0" y="3526667"/>
                </a:lnTo>
                <a:lnTo>
                  <a:pt x="0" y="0"/>
                </a:lnTo>
                <a:close/>
              </a:path>
            </a:pathLst>
          </a:custGeom>
          <a:blipFill>
            <a:blip r:embed="rId4"/>
            <a:stretch>
              <a:fillRect l="0" t="0" r="0" b="0"/>
            </a:stretch>
          </a:blipFill>
        </p:spPr>
      </p:sp>
      <p:sp>
        <p:nvSpPr>
          <p:cNvPr name="TextBox 5" id="5"/>
          <p:cNvSpPr txBox="true"/>
          <p:nvPr/>
        </p:nvSpPr>
        <p:spPr>
          <a:xfrm rot="0">
            <a:off x="1006871" y="942975"/>
            <a:ext cx="16417376"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1 Bold"/>
                <a:ea typeface="Public Sans 1 Bold"/>
                <a:cs typeface="Public Sans 1 Bold"/>
                <a:sym typeface="Public Sans 1 Bold"/>
              </a:rPr>
              <a:t>SYSMOBENCH'S FOUR-STAGE PIPELINE</a:t>
            </a:r>
          </a:p>
        </p:txBody>
      </p:sp>
      <p:sp>
        <p:nvSpPr>
          <p:cNvPr name="TextBox 6" id="6"/>
          <p:cNvSpPr txBox="true"/>
          <p:nvPr/>
        </p:nvSpPr>
        <p:spPr>
          <a:xfrm rot="0">
            <a:off x="1028700" y="5954977"/>
            <a:ext cx="11087537" cy="1977390"/>
          </a:xfrm>
          <a:prstGeom prst="rect">
            <a:avLst/>
          </a:prstGeom>
        </p:spPr>
        <p:txBody>
          <a:bodyPr anchor="t" rtlCol="false" tIns="0" lIns="0" bIns="0" rIns="0">
            <a:spAutoFit/>
          </a:bodyPr>
          <a:lstStyle/>
          <a:p>
            <a:pPr algn="l" marL="561341" indent="-280670" lvl="1">
              <a:lnSpc>
                <a:spcPts val="3900"/>
              </a:lnSpc>
              <a:buFont typeface="Arial"/>
              <a:buChar char="•"/>
            </a:pPr>
            <a:r>
              <a:rPr lang="en-US" sz="2600">
                <a:solidFill>
                  <a:srgbClr val="2B2C30"/>
                </a:solidFill>
                <a:latin typeface="Public Sans 1"/>
                <a:ea typeface="Public Sans 1"/>
                <a:cs typeface="Public Sans 1"/>
                <a:sym typeface="Public Sans 1"/>
              </a:rPr>
              <a:t>Syntax + r</a:t>
            </a:r>
            <a:r>
              <a:rPr lang="en-US" sz="2600">
                <a:solidFill>
                  <a:srgbClr val="2B2C30"/>
                </a:solidFill>
                <a:latin typeface="Public Sans 1"/>
                <a:ea typeface="Public Sans 1"/>
                <a:cs typeface="Public Sans 1"/>
                <a:sym typeface="Public Sans 1"/>
              </a:rPr>
              <a:t>untime are necessary but not sufficient for a faithful spec</a:t>
            </a:r>
          </a:p>
          <a:p>
            <a:pPr algn="l" marL="561341" indent="-280670" lvl="1">
              <a:lnSpc>
                <a:spcPts val="3900"/>
              </a:lnSpc>
              <a:buFont typeface="Arial"/>
              <a:buChar char="•"/>
            </a:pPr>
            <a:r>
              <a:rPr lang="en-US" sz="2600">
                <a:solidFill>
                  <a:srgbClr val="2B2C30"/>
                </a:solidFill>
                <a:latin typeface="Public Sans 1"/>
                <a:ea typeface="Public Sans 1"/>
                <a:cs typeface="Public Sans 1"/>
                <a:sym typeface="Public Sans 1"/>
              </a:rPr>
              <a:t>The two</a:t>
            </a:r>
            <a:r>
              <a:rPr lang="en-US" sz="2600">
                <a:solidFill>
                  <a:srgbClr val="2B2C30"/>
                </a:solidFill>
                <a:latin typeface="Public Sans 1"/>
                <a:ea typeface="Public Sans 1"/>
                <a:cs typeface="Public Sans 1"/>
                <a:sym typeface="Public Sans 1"/>
              </a:rPr>
              <a:t> heavy stages test conformance to real execution tr</a:t>
            </a:r>
            <a:r>
              <a:rPr lang="en-US" sz="2600">
                <a:solidFill>
                  <a:srgbClr val="2B2C30"/>
                </a:solidFill>
                <a:latin typeface="Public Sans 1"/>
                <a:ea typeface="Public Sans 1"/>
                <a:cs typeface="Public Sans 1"/>
                <a:sym typeface="Public Sans 1"/>
              </a:rPr>
              <a:t>a</a:t>
            </a:r>
            <a:r>
              <a:rPr lang="en-US" sz="2600">
                <a:solidFill>
                  <a:srgbClr val="2B2C30"/>
                </a:solidFill>
                <a:latin typeface="Public Sans 1"/>
                <a:ea typeface="Public Sans 1"/>
                <a:cs typeface="Public Sans 1"/>
                <a:sym typeface="Public Sans 1"/>
              </a:rPr>
              <a:t>ce</a:t>
            </a:r>
            <a:r>
              <a:rPr lang="en-US" sz="2600">
                <a:solidFill>
                  <a:srgbClr val="2B2C30"/>
                </a:solidFill>
                <a:latin typeface="Public Sans 1"/>
                <a:ea typeface="Public Sans 1"/>
                <a:cs typeface="Public Sans 1"/>
                <a:sym typeface="Public Sans 1"/>
              </a:rPr>
              <a:t>s</a:t>
            </a:r>
            <a:r>
              <a:rPr lang="en-US" sz="2600">
                <a:solidFill>
                  <a:srgbClr val="2B2C30"/>
                </a:solidFill>
                <a:latin typeface="Public Sans 1"/>
                <a:ea typeface="Public Sans 1"/>
                <a:cs typeface="Public Sans 1"/>
                <a:sym typeface="Public Sans 1"/>
              </a:rPr>
              <a:t> and </a:t>
            </a:r>
            <a:r>
              <a:rPr lang="en-US" sz="2600">
                <a:solidFill>
                  <a:srgbClr val="2B2C30"/>
                </a:solidFill>
                <a:latin typeface="Public Sans 1"/>
                <a:ea typeface="Public Sans 1"/>
                <a:cs typeface="Public Sans 1"/>
                <a:sym typeface="Public Sans 1"/>
              </a:rPr>
              <a:t>e</a:t>
            </a:r>
            <a:r>
              <a:rPr lang="en-US" sz="2600">
                <a:solidFill>
                  <a:srgbClr val="2B2C30"/>
                </a:solidFill>
                <a:latin typeface="Public Sans 1"/>
                <a:ea typeface="Public Sans 1"/>
                <a:cs typeface="Public Sans 1"/>
                <a:sym typeface="Public Sans 1"/>
              </a:rPr>
              <a:t>xpert</a:t>
            </a:r>
            <a:r>
              <a:rPr lang="en-US" sz="2600">
                <a:solidFill>
                  <a:srgbClr val="2B2C30"/>
                </a:solidFill>
                <a:latin typeface="Public Sans 1"/>
                <a:ea typeface="Public Sans 1"/>
                <a:cs typeface="Public Sans 1"/>
                <a:sym typeface="Public Sans 1"/>
              </a:rPr>
              <a:t> s</a:t>
            </a:r>
            <a:r>
              <a:rPr lang="en-US" sz="2600">
                <a:solidFill>
                  <a:srgbClr val="2B2C30"/>
                </a:solidFill>
                <a:latin typeface="Public Sans 1"/>
                <a:ea typeface="Public Sans 1"/>
                <a:cs typeface="Public Sans 1"/>
                <a:sym typeface="Public Sans 1"/>
              </a:rPr>
              <a:t>afe</a:t>
            </a:r>
            <a:r>
              <a:rPr lang="en-US" sz="2600">
                <a:solidFill>
                  <a:srgbClr val="2B2C30"/>
                </a:solidFill>
                <a:latin typeface="Public Sans 1"/>
                <a:ea typeface="Public Sans 1"/>
                <a:cs typeface="Public Sans 1"/>
                <a:sym typeface="Public Sans 1"/>
              </a:rPr>
              <a:t>ty</a:t>
            </a:r>
            <a:r>
              <a:rPr lang="en-US" sz="2600">
                <a:solidFill>
                  <a:srgbClr val="2B2C30"/>
                </a:solidFill>
                <a:latin typeface="Public Sans 1"/>
                <a:ea typeface="Public Sans 1"/>
                <a:cs typeface="Public Sans 1"/>
                <a:sym typeface="Public Sans 1"/>
              </a:rPr>
              <a:t> invariants</a:t>
            </a:r>
          </a:p>
          <a:p>
            <a:pPr algn="l" marL="561341" indent="-280670" lvl="1">
              <a:lnSpc>
                <a:spcPts val="3900"/>
              </a:lnSpc>
              <a:buFont typeface="Arial"/>
              <a:buChar char="•"/>
            </a:pPr>
            <a:r>
              <a:rPr lang="en-US" sz="2600">
                <a:solidFill>
                  <a:srgbClr val="2B2C30"/>
                </a:solidFill>
                <a:latin typeface="Public Sans 1"/>
                <a:ea typeface="Public Sans 1"/>
                <a:cs typeface="Public Sans 1"/>
                <a:sym typeface="Public Sans 1"/>
              </a:rPr>
              <a:t>TV uses actual Python ex</a:t>
            </a:r>
            <a:r>
              <a:rPr lang="en-US" sz="2600">
                <a:solidFill>
                  <a:srgbClr val="2B2C30"/>
                </a:solidFill>
                <a:latin typeface="Public Sans 1"/>
                <a:ea typeface="Public Sans 1"/>
                <a:cs typeface="Public Sans 1"/>
                <a:sym typeface="Public Sans 1"/>
              </a:rPr>
              <a:t>ec</a:t>
            </a:r>
            <a:r>
              <a:rPr lang="en-US" sz="2600">
                <a:solidFill>
                  <a:srgbClr val="2B2C30"/>
                </a:solidFill>
                <a:latin typeface="Public Sans 1"/>
                <a:ea typeface="Public Sans 1"/>
                <a:cs typeface="Public Sans 1"/>
                <a:sym typeface="Public Sans 1"/>
              </a:rPr>
              <a:t>u</a:t>
            </a:r>
            <a:r>
              <a:rPr lang="en-US" sz="2600">
                <a:solidFill>
                  <a:srgbClr val="2B2C30"/>
                </a:solidFill>
                <a:latin typeface="Public Sans 1"/>
                <a:ea typeface="Public Sans 1"/>
                <a:cs typeface="Public Sans 1"/>
                <a:sym typeface="Public Sans 1"/>
              </a:rPr>
              <a:t>t</a:t>
            </a:r>
            <a:r>
              <a:rPr lang="en-US" sz="2600">
                <a:solidFill>
                  <a:srgbClr val="2B2C30"/>
                </a:solidFill>
                <a:latin typeface="Public Sans 1"/>
                <a:ea typeface="Public Sans 1"/>
                <a:cs typeface="Public Sans 1"/>
                <a:sym typeface="Public Sans 1"/>
              </a:rPr>
              <a:t>i</a:t>
            </a:r>
            <a:r>
              <a:rPr lang="en-US" sz="2600">
                <a:solidFill>
                  <a:srgbClr val="2B2C30"/>
                </a:solidFill>
                <a:latin typeface="Public Sans 1"/>
                <a:ea typeface="Public Sans 1"/>
                <a:cs typeface="Public Sans 1"/>
                <a:sym typeface="Public Sans 1"/>
              </a:rPr>
              <a:t>o</a:t>
            </a:r>
            <a:r>
              <a:rPr lang="en-US" sz="2600">
                <a:solidFill>
                  <a:srgbClr val="2B2C30"/>
                </a:solidFill>
                <a:latin typeface="Public Sans 1"/>
                <a:ea typeface="Public Sans 1"/>
                <a:cs typeface="Public Sans 1"/>
                <a:sym typeface="Public Sans 1"/>
              </a:rPr>
              <a:t>n</a:t>
            </a:r>
            <a:r>
              <a:rPr lang="en-US" sz="2600">
                <a:solidFill>
                  <a:srgbClr val="2B2C30"/>
                </a:solidFill>
                <a:latin typeface="Public Sans 1"/>
                <a:ea typeface="Public Sans 1"/>
                <a:cs typeface="Public Sans 1"/>
                <a:sym typeface="Public Sans 1"/>
              </a:rPr>
              <a:t> tra</a:t>
            </a:r>
            <a:r>
              <a:rPr lang="en-US" sz="2600">
                <a:solidFill>
                  <a:srgbClr val="2B2C30"/>
                </a:solidFill>
                <a:latin typeface="Public Sans 1"/>
                <a:ea typeface="Public Sans 1"/>
                <a:cs typeface="Public Sans 1"/>
                <a:sym typeface="Public Sans 1"/>
              </a:rPr>
              <a:t>c</a:t>
            </a:r>
            <a:r>
              <a:rPr lang="en-US" sz="2600">
                <a:solidFill>
                  <a:srgbClr val="2B2C30"/>
                </a:solidFill>
                <a:latin typeface="Public Sans 1"/>
                <a:ea typeface="Public Sans 1"/>
                <a:cs typeface="Public Sans 1"/>
                <a:sym typeface="Public Sans 1"/>
              </a:rPr>
              <a:t>es</a:t>
            </a:r>
            <a:r>
              <a:rPr lang="en-US" sz="2600">
                <a:solidFill>
                  <a:srgbClr val="2B2C30"/>
                </a:solidFill>
                <a:latin typeface="Public Sans 1"/>
                <a:ea typeface="Public Sans 1"/>
                <a:cs typeface="Public Sans 1"/>
                <a:sym typeface="Public Sans 1"/>
              </a:rPr>
              <a:t> as ground truth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555424" y="8975364"/>
            <a:ext cx="2732576" cy="1311636"/>
          </a:xfrm>
          <a:custGeom>
            <a:avLst/>
            <a:gdLst/>
            <a:ahLst/>
            <a:cxnLst/>
            <a:rect r="r" b="b" t="t" l="l"/>
            <a:pathLst>
              <a:path h="1311636" w="2732576">
                <a:moveTo>
                  <a:pt x="0" y="0"/>
                </a:moveTo>
                <a:lnTo>
                  <a:pt x="2732576" y="0"/>
                </a:lnTo>
                <a:lnTo>
                  <a:pt x="2732576" y="1311636"/>
                </a:lnTo>
                <a:lnTo>
                  <a:pt x="0" y="1311636"/>
                </a:lnTo>
                <a:lnTo>
                  <a:pt x="0" y="0"/>
                </a:lnTo>
                <a:close/>
              </a:path>
            </a:pathLst>
          </a:custGeom>
          <a:blipFill>
            <a:blip r:embed="rId3"/>
            <a:stretch>
              <a:fillRect l="0" t="0" r="0" b="0"/>
            </a:stretch>
          </a:blipFill>
        </p:spPr>
      </p:sp>
      <p:sp>
        <p:nvSpPr>
          <p:cNvPr name="Freeform 4" id="4"/>
          <p:cNvSpPr/>
          <p:nvPr/>
        </p:nvSpPr>
        <p:spPr>
          <a:xfrm flipH="false" flipV="false" rot="0">
            <a:off x="1028700" y="2161610"/>
            <a:ext cx="7587863" cy="4323317"/>
          </a:xfrm>
          <a:custGeom>
            <a:avLst/>
            <a:gdLst/>
            <a:ahLst/>
            <a:cxnLst/>
            <a:rect r="r" b="b" t="t" l="l"/>
            <a:pathLst>
              <a:path h="4323317" w="7587863">
                <a:moveTo>
                  <a:pt x="0" y="0"/>
                </a:moveTo>
                <a:lnTo>
                  <a:pt x="7587863" y="0"/>
                </a:lnTo>
                <a:lnTo>
                  <a:pt x="7587863" y="4323318"/>
                </a:lnTo>
                <a:lnTo>
                  <a:pt x="0" y="4323318"/>
                </a:lnTo>
                <a:lnTo>
                  <a:pt x="0" y="0"/>
                </a:lnTo>
                <a:close/>
              </a:path>
            </a:pathLst>
          </a:custGeom>
          <a:blipFill>
            <a:blip r:embed="rId4"/>
            <a:stretch>
              <a:fillRect l="0" t="0" r="0" b="0"/>
            </a:stretch>
          </a:blipFill>
        </p:spPr>
      </p:sp>
      <p:sp>
        <p:nvSpPr>
          <p:cNvPr name="Freeform 5" id="5"/>
          <p:cNvSpPr/>
          <p:nvPr/>
        </p:nvSpPr>
        <p:spPr>
          <a:xfrm flipH="false" flipV="false" rot="0">
            <a:off x="9122171" y="2161610"/>
            <a:ext cx="8137129" cy="3775335"/>
          </a:xfrm>
          <a:custGeom>
            <a:avLst/>
            <a:gdLst/>
            <a:ahLst/>
            <a:cxnLst/>
            <a:rect r="r" b="b" t="t" l="l"/>
            <a:pathLst>
              <a:path h="3775335" w="8137129">
                <a:moveTo>
                  <a:pt x="0" y="0"/>
                </a:moveTo>
                <a:lnTo>
                  <a:pt x="8137129" y="0"/>
                </a:lnTo>
                <a:lnTo>
                  <a:pt x="8137129" y="3775335"/>
                </a:lnTo>
                <a:lnTo>
                  <a:pt x="0" y="3775335"/>
                </a:lnTo>
                <a:lnTo>
                  <a:pt x="0" y="0"/>
                </a:lnTo>
                <a:close/>
              </a:path>
            </a:pathLst>
          </a:custGeom>
          <a:blipFill>
            <a:blip r:embed="rId5"/>
            <a:stretch>
              <a:fillRect l="0" t="0" r="0" b="0"/>
            </a:stretch>
          </a:blipFill>
        </p:spPr>
      </p:sp>
      <p:sp>
        <p:nvSpPr>
          <p:cNvPr name="TextBox 6" id="6"/>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1 Bold"/>
                <a:ea typeface="Public Sans 1 Bold"/>
                <a:cs typeface="Public Sans 1 Bold"/>
                <a:sym typeface="Public Sans 1 Bold"/>
              </a:rPr>
              <a:t>EXPERIMENT 1</a:t>
            </a:r>
          </a:p>
        </p:txBody>
      </p:sp>
      <p:sp>
        <p:nvSpPr>
          <p:cNvPr name="TextBox 7" id="7"/>
          <p:cNvSpPr txBox="true"/>
          <p:nvPr/>
        </p:nvSpPr>
        <p:spPr>
          <a:xfrm rot="0">
            <a:off x="1006871" y="6751628"/>
            <a:ext cx="13308056" cy="2472690"/>
          </a:xfrm>
          <a:prstGeom prst="rect">
            <a:avLst/>
          </a:prstGeom>
        </p:spPr>
        <p:txBody>
          <a:bodyPr anchor="t" rtlCol="false" tIns="0" lIns="0" bIns="0" rIns="0">
            <a:spAutoFit/>
          </a:bodyPr>
          <a:lstStyle/>
          <a:p>
            <a:pPr algn="l" marL="561341" indent="-280670" lvl="1">
              <a:lnSpc>
                <a:spcPts val="3900"/>
              </a:lnSpc>
              <a:buFont typeface="Arial"/>
              <a:buChar char="•"/>
            </a:pPr>
            <a:r>
              <a:rPr lang="en-US" sz="2600">
                <a:solidFill>
                  <a:srgbClr val="2B2C30"/>
                </a:solidFill>
                <a:latin typeface="Public Sans 1"/>
                <a:ea typeface="Public Sans 1"/>
                <a:cs typeface="Public Sans 1"/>
                <a:sym typeface="Public Sans 1"/>
              </a:rPr>
              <a:t>Neither mode</a:t>
            </a:r>
            <a:r>
              <a:rPr lang="en-US" sz="2600">
                <a:solidFill>
                  <a:srgbClr val="2B2C30"/>
                </a:solidFill>
                <a:latin typeface="Public Sans 1"/>
                <a:ea typeface="Public Sans 1"/>
                <a:cs typeface="Public Sans 1"/>
                <a:sym typeface="Public Sans 1"/>
              </a:rPr>
              <a:t>l</a:t>
            </a:r>
            <a:r>
              <a:rPr lang="en-US" sz="2600">
                <a:solidFill>
                  <a:srgbClr val="2B2C30"/>
                </a:solidFill>
                <a:latin typeface="Public Sans 1"/>
                <a:ea typeface="Public Sans 1"/>
                <a:cs typeface="Public Sans 1"/>
                <a:sym typeface="Public Sans 1"/>
              </a:rPr>
              <a:t> passe</a:t>
            </a:r>
            <a:r>
              <a:rPr lang="en-US" sz="2600">
                <a:solidFill>
                  <a:srgbClr val="2B2C30"/>
                </a:solidFill>
                <a:latin typeface="Public Sans 1"/>
                <a:ea typeface="Public Sans 1"/>
                <a:cs typeface="Public Sans 1"/>
                <a:sym typeface="Public Sans 1"/>
              </a:rPr>
              <a:t>d on th</a:t>
            </a:r>
            <a:r>
              <a:rPr lang="en-US" sz="2600">
                <a:solidFill>
                  <a:srgbClr val="2B2C30"/>
                </a:solidFill>
                <a:latin typeface="Public Sans 1"/>
                <a:ea typeface="Public Sans 1"/>
                <a:cs typeface="Public Sans 1"/>
                <a:sym typeface="Public Sans 1"/>
              </a:rPr>
              <a:t>e first prompt (8 iterations (Claude), 4 iterations (GPT))</a:t>
            </a:r>
          </a:p>
          <a:p>
            <a:pPr algn="l" marL="561341" indent="-280670" lvl="1">
              <a:lnSpc>
                <a:spcPts val="3900"/>
              </a:lnSpc>
              <a:buFont typeface="Arial"/>
              <a:buChar char="•"/>
            </a:pPr>
            <a:r>
              <a:rPr lang="en-US" sz="2600">
                <a:solidFill>
                  <a:srgbClr val="2B2C30"/>
                </a:solidFill>
                <a:latin typeface="Public Sans 1"/>
                <a:ea typeface="Public Sans 1"/>
                <a:cs typeface="Public Sans 1"/>
                <a:sym typeface="Public Sans 1"/>
              </a:rPr>
              <a:t>Shar</a:t>
            </a:r>
            <a:r>
              <a:rPr lang="en-US" sz="2600">
                <a:solidFill>
                  <a:srgbClr val="2B2C30"/>
                </a:solidFill>
                <a:latin typeface="Public Sans 1"/>
                <a:ea typeface="Public Sans 1"/>
                <a:cs typeface="Public Sans 1"/>
                <a:sym typeface="Public Sans 1"/>
              </a:rPr>
              <a:t>ed failure</a:t>
            </a:r>
            <a:r>
              <a:rPr lang="en-US" sz="2600">
                <a:solidFill>
                  <a:srgbClr val="2B2C30"/>
                </a:solidFill>
                <a:latin typeface="Public Sans 1"/>
                <a:ea typeface="Public Sans 1"/>
                <a:cs typeface="Public Sans 1"/>
                <a:sym typeface="Public Sans 1"/>
              </a:rPr>
              <a:t> class: finite-domain encoding (bounded b</a:t>
            </a:r>
            <a:r>
              <a:rPr lang="en-US" sz="2600">
                <a:solidFill>
                  <a:srgbClr val="2B2C30"/>
                </a:solidFill>
                <a:latin typeface="Public Sans 1"/>
                <a:ea typeface="Public Sans 1"/>
                <a:cs typeface="Public Sans 1"/>
                <a:sym typeface="Public Sans 1"/>
              </a:rPr>
              <a:t>allo</a:t>
            </a:r>
            <a:r>
              <a:rPr lang="en-US" sz="2600">
                <a:solidFill>
                  <a:srgbClr val="2B2C30"/>
                </a:solidFill>
                <a:latin typeface="Public Sans 1"/>
                <a:ea typeface="Public Sans 1"/>
                <a:cs typeface="Public Sans 1"/>
                <a:sym typeface="Public Sans 1"/>
              </a:rPr>
              <a:t>ts, no model-valu</a:t>
            </a:r>
            <a:r>
              <a:rPr lang="en-US" sz="2600">
                <a:solidFill>
                  <a:srgbClr val="2B2C30"/>
                </a:solidFill>
                <a:latin typeface="Public Sans 1"/>
                <a:ea typeface="Public Sans 1"/>
                <a:cs typeface="Public Sans 1"/>
                <a:sym typeface="Public Sans 1"/>
              </a:rPr>
              <a:t>e comparison,</a:t>
            </a:r>
            <a:r>
              <a:rPr lang="en-US" sz="2600">
                <a:solidFill>
                  <a:srgbClr val="2B2C30"/>
                </a:solidFill>
                <a:latin typeface="Public Sans 1"/>
                <a:ea typeface="Public Sans 1"/>
                <a:cs typeface="Public Sans 1"/>
                <a:sym typeface="Public Sans 1"/>
              </a:rPr>
              <a:t> cardinality-based quorums)</a:t>
            </a:r>
          </a:p>
          <a:p>
            <a:pPr algn="l" marL="561341" indent="-280670" lvl="1">
              <a:lnSpc>
                <a:spcPts val="3900"/>
              </a:lnSpc>
              <a:buFont typeface="Arial"/>
              <a:buChar char="•"/>
            </a:pPr>
            <a:r>
              <a:rPr lang="en-US" sz="2600">
                <a:solidFill>
                  <a:srgbClr val="2B2C30"/>
                </a:solidFill>
                <a:latin typeface="Public Sans 1"/>
                <a:ea typeface="Public Sans 1"/>
                <a:cs typeface="Public Sans 1"/>
                <a:sym typeface="Public Sans 1"/>
              </a:rPr>
              <a:t>Feedback loop is aut</a:t>
            </a:r>
            <a:r>
              <a:rPr lang="en-US" sz="2600">
                <a:solidFill>
                  <a:srgbClr val="2B2C30"/>
                </a:solidFill>
                <a:latin typeface="Public Sans 1"/>
                <a:ea typeface="Public Sans 1"/>
                <a:cs typeface="Public Sans 1"/>
                <a:sym typeface="Public Sans 1"/>
              </a:rPr>
              <a:t>o</a:t>
            </a:r>
            <a:r>
              <a:rPr lang="en-US" sz="2600">
                <a:solidFill>
                  <a:srgbClr val="2B2C30"/>
                </a:solidFill>
                <a:latin typeface="Public Sans 1"/>
                <a:ea typeface="Public Sans 1"/>
                <a:cs typeface="Public Sans 1"/>
                <a:sym typeface="Public Sans 1"/>
              </a:rPr>
              <a:t>nomo</a:t>
            </a:r>
            <a:r>
              <a:rPr lang="en-US" sz="2600">
                <a:solidFill>
                  <a:srgbClr val="2B2C30"/>
                </a:solidFill>
                <a:latin typeface="Public Sans 1"/>
                <a:ea typeface="Public Sans 1"/>
                <a:cs typeface="Public Sans 1"/>
                <a:sym typeface="Public Sans 1"/>
              </a:rPr>
              <a:t>us: each SANY/TLC</a:t>
            </a:r>
            <a:r>
              <a:rPr lang="en-US" sz="2600">
                <a:solidFill>
                  <a:srgbClr val="2B2C30"/>
                </a:solidFill>
                <a:latin typeface="Public Sans 1"/>
                <a:ea typeface="Public Sans 1"/>
                <a:cs typeface="Public Sans 1"/>
                <a:sym typeface="Public Sans 1"/>
              </a:rPr>
              <a:t> failure is fed back, the model regenerates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555424" y="8975364"/>
            <a:ext cx="2732576" cy="1311636"/>
          </a:xfrm>
          <a:custGeom>
            <a:avLst/>
            <a:gdLst/>
            <a:ahLst/>
            <a:cxnLst/>
            <a:rect r="r" b="b" t="t" l="l"/>
            <a:pathLst>
              <a:path h="1311636" w="2732576">
                <a:moveTo>
                  <a:pt x="0" y="0"/>
                </a:moveTo>
                <a:lnTo>
                  <a:pt x="2732576" y="0"/>
                </a:lnTo>
                <a:lnTo>
                  <a:pt x="2732576" y="1311636"/>
                </a:lnTo>
                <a:lnTo>
                  <a:pt x="0" y="1311636"/>
                </a:lnTo>
                <a:lnTo>
                  <a:pt x="0" y="0"/>
                </a:lnTo>
                <a:close/>
              </a:path>
            </a:pathLst>
          </a:custGeom>
          <a:blipFill>
            <a:blip r:embed="rId3"/>
            <a:stretch>
              <a:fillRect l="0" t="0" r="0" b="0"/>
            </a:stretch>
          </a:blipFill>
        </p:spPr>
      </p:sp>
      <p:sp>
        <p:nvSpPr>
          <p:cNvPr name="Freeform 4" id="4"/>
          <p:cNvSpPr/>
          <p:nvPr/>
        </p:nvSpPr>
        <p:spPr>
          <a:xfrm flipH="false" flipV="false" rot="0">
            <a:off x="1006871" y="2161610"/>
            <a:ext cx="11205691" cy="2997886"/>
          </a:xfrm>
          <a:custGeom>
            <a:avLst/>
            <a:gdLst/>
            <a:ahLst/>
            <a:cxnLst/>
            <a:rect r="r" b="b" t="t" l="l"/>
            <a:pathLst>
              <a:path h="2997886" w="11205691">
                <a:moveTo>
                  <a:pt x="0" y="0"/>
                </a:moveTo>
                <a:lnTo>
                  <a:pt x="11205691" y="0"/>
                </a:lnTo>
                <a:lnTo>
                  <a:pt x="11205691" y="2997886"/>
                </a:lnTo>
                <a:lnTo>
                  <a:pt x="0" y="2997886"/>
                </a:lnTo>
                <a:lnTo>
                  <a:pt x="0" y="0"/>
                </a:lnTo>
                <a:close/>
              </a:path>
            </a:pathLst>
          </a:custGeom>
          <a:blipFill>
            <a:blip r:embed="rId4"/>
            <a:stretch>
              <a:fillRect l="0" t="0" r="0" b="0"/>
            </a:stretch>
          </a:blipFill>
        </p:spPr>
      </p:sp>
      <p:sp>
        <p:nvSpPr>
          <p:cNvPr name="Freeform 5" id="5"/>
          <p:cNvSpPr/>
          <p:nvPr/>
        </p:nvSpPr>
        <p:spPr>
          <a:xfrm flipH="false" flipV="false" rot="0">
            <a:off x="1028700" y="7975086"/>
            <a:ext cx="13084230" cy="613323"/>
          </a:xfrm>
          <a:custGeom>
            <a:avLst/>
            <a:gdLst/>
            <a:ahLst/>
            <a:cxnLst/>
            <a:rect r="r" b="b" t="t" l="l"/>
            <a:pathLst>
              <a:path h="613323" w="13084230">
                <a:moveTo>
                  <a:pt x="0" y="0"/>
                </a:moveTo>
                <a:lnTo>
                  <a:pt x="13084230" y="0"/>
                </a:lnTo>
                <a:lnTo>
                  <a:pt x="13084230" y="613324"/>
                </a:lnTo>
                <a:lnTo>
                  <a:pt x="0" y="613324"/>
                </a:lnTo>
                <a:lnTo>
                  <a:pt x="0" y="0"/>
                </a:lnTo>
                <a:close/>
              </a:path>
            </a:pathLst>
          </a:custGeom>
          <a:blipFill>
            <a:blip r:embed="rId5"/>
            <a:stretch>
              <a:fillRect l="0" t="0" r="0" b="0"/>
            </a:stretch>
          </a:blipFill>
        </p:spPr>
      </p:sp>
      <p:sp>
        <p:nvSpPr>
          <p:cNvPr name="TextBox 6" id="6"/>
          <p:cNvSpPr txBox="true"/>
          <p:nvPr/>
        </p:nvSpPr>
        <p:spPr>
          <a:xfrm rot="0">
            <a:off x="1006871" y="5426196"/>
            <a:ext cx="9931720" cy="1977390"/>
          </a:xfrm>
          <a:prstGeom prst="rect">
            <a:avLst/>
          </a:prstGeom>
        </p:spPr>
        <p:txBody>
          <a:bodyPr anchor="t" rtlCol="false" tIns="0" lIns="0" bIns="0" rIns="0">
            <a:spAutoFit/>
          </a:bodyPr>
          <a:lstStyle/>
          <a:p>
            <a:pPr algn="l" marL="561341" indent="-280670" lvl="1">
              <a:lnSpc>
                <a:spcPts val="3900"/>
              </a:lnSpc>
              <a:buFont typeface="Arial"/>
              <a:buChar char="•"/>
            </a:pPr>
            <a:r>
              <a:rPr lang="en-US" sz="2600">
                <a:solidFill>
                  <a:srgbClr val="2B2C30"/>
                </a:solidFill>
                <a:latin typeface="Public Sans 1"/>
                <a:ea typeface="Public Sans 1"/>
                <a:cs typeface="Public Sans 1"/>
                <a:sym typeface="Public Sans 1"/>
              </a:rPr>
              <a:t>Each prompt</a:t>
            </a:r>
            <a:r>
              <a:rPr lang="en-US" sz="2600">
                <a:solidFill>
                  <a:srgbClr val="2B2C30"/>
                </a:solidFill>
                <a:latin typeface="Public Sans 1"/>
                <a:ea typeface="Public Sans 1"/>
                <a:cs typeface="Public Sans 1"/>
                <a:sym typeface="Public Sans 1"/>
              </a:rPr>
              <a:t> </a:t>
            </a:r>
            <a:r>
              <a:rPr lang="en-US" sz="2600">
                <a:solidFill>
                  <a:srgbClr val="2B2C30"/>
                </a:solidFill>
                <a:latin typeface="Public Sans 1"/>
                <a:ea typeface="Public Sans 1"/>
                <a:cs typeface="Public Sans 1"/>
                <a:sym typeface="Public Sans 1"/>
              </a:rPr>
              <a:t>compiles only on the m</a:t>
            </a:r>
            <a:r>
              <a:rPr lang="en-US" sz="2600">
                <a:solidFill>
                  <a:srgbClr val="2B2C30"/>
                </a:solidFill>
                <a:latin typeface="Public Sans 1"/>
                <a:ea typeface="Public Sans 1"/>
                <a:cs typeface="Public Sans 1"/>
                <a:sym typeface="Public Sans 1"/>
              </a:rPr>
              <a:t>o</a:t>
            </a:r>
            <a:r>
              <a:rPr lang="en-US" sz="2600">
                <a:solidFill>
                  <a:srgbClr val="2B2C30"/>
                </a:solidFill>
                <a:latin typeface="Public Sans 1"/>
                <a:ea typeface="Public Sans 1"/>
                <a:cs typeface="Public Sans 1"/>
                <a:sym typeface="Public Sans 1"/>
              </a:rPr>
              <a:t>del that produced it</a:t>
            </a:r>
          </a:p>
          <a:p>
            <a:pPr algn="l" marL="561341" indent="-280670" lvl="1">
              <a:lnSpc>
                <a:spcPts val="3900"/>
              </a:lnSpc>
              <a:buFont typeface="Arial"/>
              <a:buChar char="•"/>
            </a:pPr>
            <a:r>
              <a:rPr lang="en-US" sz="2600">
                <a:solidFill>
                  <a:srgbClr val="2B2C30"/>
                </a:solidFill>
                <a:latin typeface="Public Sans 1"/>
                <a:ea typeface="Public Sans 1"/>
                <a:cs typeface="Public Sans 1"/>
                <a:sym typeface="Public Sans 1"/>
              </a:rPr>
              <a:t>Both</a:t>
            </a:r>
            <a:r>
              <a:rPr lang="en-US" sz="2600">
                <a:solidFill>
                  <a:srgbClr val="2B2C30"/>
                </a:solidFill>
                <a:latin typeface="Public Sans 1"/>
                <a:ea typeface="Public Sans 1"/>
                <a:cs typeface="Public Sans 1"/>
                <a:sym typeface="Public Sans 1"/>
              </a:rPr>
              <a:t> cross-model</a:t>
            </a:r>
            <a:r>
              <a:rPr lang="en-US" sz="2600">
                <a:solidFill>
                  <a:srgbClr val="2B2C30"/>
                </a:solidFill>
                <a:latin typeface="Public Sans 1"/>
                <a:ea typeface="Public Sans 1"/>
                <a:cs typeface="Public Sans 1"/>
                <a:sym typeface="Public Sans 1"/>
              </a:rPr>
              <a:t> combinations fai</a:t>
            </a:r>
            <a:r>
              <a:rPr lang="en-US" sz="2600">
                <a:solidFill>
                  <a:srgbClr val="2B2C30"/>
                </a:solidFill>
                <a:latin typeface="Public Sans 1"/>
                <a:ea typeface="Public Sans 1"/>
                <a:cs typeface="Public Sans 1"/>
                <a:sym typeface="Public Sans 1"/>
              </a:rPr>
              <a:t>l at</a:t>
            </a:r>
            <a:r>
              <a:rPr lang="en-US" sz="2600">
                <a:solidFill>
                  <a:srgbClr val="2B2C30"/>
                </a:solidFill>
                <a:latin typeface="Public Sans 1"/>
                <a:ea typeface="Public Sans 1"/>
                <a:cs typeface="Public Sans 1"/>
                <a:sym typeface="Public Sans 1"/>
              </a:rPr>
              <a:t> compila</a:t>
            </a:r>
            <a:r>
              <a:rPr lang="en-US" sz="2600">
                <a:solidFill>
                  <a:srgbClr val="2B2C30"/>
                </a:solidFill>
                <a:latin typeface="Public Sans 1"/>
                <a:ea typeface="Public Sans 1"/>
                <a:cs typeface="Public Sans 1"/>
                <a:sym typeface="Public Sans 1"/>
              </a:rPr>
              <a:t>tion</a:t>
            </a:r>
          </a:p>
          <a:p>
            <a:pPr algn="l" marL="561341" indent="-280670" lvl="1">
              <a:lnSpc>
                <a:spcPts val="3900"/>
              </a:lnSpc>
              <a:buFont typeface="Arial"/>
              <a:buChar char="•"/>
            </a:pPr>
            <a:r>
              <a:rPr lang="en-US" sz="2600">
                <a:solidFill>
                  <a:srgbClr val="2B2C30"/>
                </a:solidFill>
                <a:latin typeface="Public Sans 1"/>
                <a:ea typeface="Public Sans 1"/>
                <a:cs typeface="Public Sans 1"/>
                <a:sym typeface="Public Sans 1"/>
              </a:rPr>
              <a:t>Prompts encode m</a:t>
            </a:r>
            <a:r>
              <a:rPr lang="en-US" sz="2600">
                <a:solidFill>
                  <a:srgbClr val="2B2C30"/>
                </a:solidFill>
                <a:latin typeface="Public Sans 1"/>
                <a:ea typeface="Public Sans 1"/>
                <a:cs typeface="Public Sans 1"/>
                <a:sym typeface="Public Sans 1"/>
              </a:rPr>
              <a:t>o</a:t>
            </a:r>
            <a:r>
              <a:rPr lang="en-US" sz="2600">
                <a:solidFill>
                  <a:srgbClr val="2B2C30"/>
                </a:solidFill>
                <a:latin typeface="Public Sans 1"/>
                <a:ea typeface="Public Sans 1"/>
                <a:cs typeface="Public Sans 1"/>
                <a:sym typeface="Public Sans 1"/>
              </a:rPr>
              <a:t>d</a:t>
            </a:r>
            <a:r>
              <a:rPr lang="en-US" sz="2600">
                <a:solidFill>
                  <a:srgbClr val="2B2C30"/>
                </a:solidFill>
                <a:latin typeface="Public Sans 1"/>
                <a:ea typeface="Public Sans 1"/>
                <a:cs typeface="Public Sans 1"/>
                <a:sym typeface="Public Sans 1"/>
              </a:rPr>
              <a:t>e</a:t>
            </a:r>
            <a:r>
              <a:rPr lang="en-US" sz="2600">
                <a:solidFill>
                  <a:srgbClr val="2B2C30"/>
                </a:solidFill>
                <a:latin typeface="Public Sans 1"/>
                <a:ea typeface="Public Sans 1"/>
                <a:cs typeface="Public Sans 1"/>
                <a:sym typeface="Public Sans 1"/>
              </a:rPr>
              <a:t>l-specific generation habits, not portable spec knowledge</a:t>
            </a:r>
          </a:p>
        </p:txBody>
      </p:sp>
      <p:grpSp>
        <p:nvGrpSpPr>
          <p:cNvPr name="Group 7" id="7"/>
          <p:cNvGrpSpPr/>
          <p:nvPr/>
        </p:nvGrpSpPr>
        <p:grpSpPr>
          <a:xfrm rot="0">
            <a:off x="1006871" y="1028700"/>
            <a:ext cx="11704125" cy="565374"/>
            <a:chOff x="0" y="0"/>
            <a:chExt cx="15605500" cy="753832"/>
          </a:xfrm>
        </p:grpSpPr>
        <p:sp>
          <p:nvSpPr>
            <p:cNvPr name="TextBox 8" id="8"/>
            <p:cNvSpPr txBox="true"/>
            <p:nvPr/>
          </p:nvSpPr>
          <p:spPr>
            <a:xfrm rot="0">
              <a:off x="0" y="-85725"/>
              <a:ext cx="6621147" cy="839557"/>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1 Bold"/>
                  <a:ea typeface="Public Sans 1 Bold"/>
                  <a:cs typeface="Public Sans 1 Bold"/>
                  <a:sym typeface="Public Sans 1 Bold"/>
                </a:rPr>
                <a:t>EXPERIMENT 2</a:t>
              </a:r>
            </a:p>
          </p:txBody>
        </p:sp>
        <p:sp>
          <p:nvSpPr>
            <p:cNvPr name="TextBox 9" id="9"/>
            <p:cNvSpPr txBox="true"/>
            <p:nvPr/>
          </p:nvSpPr>
          <p:spPr>
            <a:xfrm rot="0">
              <a:off x="5332125" y="81006"/>
              <a:ext cx="10273376" cy="534670"/>
            </a:xfrm>
            <a:prstGeom prst="rect">
              <a:avLst/>
            </a:prstGeom>
          </p:spPr>
          <p:txBody>
            <a:bodyPr anchor="t" rtlCol="false" tIns="0" lIns="0" bIns="0" rIns="0">
              <a:spAutoFit/>
            </a:bodyPr>
            <a:lstStyle/>
            <a:p>
              <a:pPr algn="ctr">
                <a:lnSpc>
                  <a:spcPts val="3359"/>
                </a:lnSpc>
              </a:pPr>
              <a:r>
                <a:rPr lang="en-US" sz="2400">
                  <a:solidFill>
                    <a:srgbClr val="2B2C30"/>
                  </a:solidFill>
                  <a:latin typeface="Public Sans 1"/>
                  <a:ea typeface="Public Sans 1"/>
                  <a:cs typeface="Public Sans 1"/>
                  <a:sym typeface="Public Sans 1"/>
                </a:rPr>
                <a:t>Cross-Model Prompt Transfer</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555424" y="8975364"/>
            <a:ext cx="2732576" cy="1311636"/>
          </a:xfrm>
          <a:custGeom>
            <a:avLst/>
            <a:gdLst/>
            <a:ahLst/>
            <a:cxnLst/>
            <a:rect r="r" b="b" t="t" l="l"/>
            <a:pathLst>
              <a:path h="1311636" w="2732576">
                <a:moveTo>
                  <a:pt x="0" y="0"/>
                </a:moveTo>
                <a:lnTo>
                  <a:pt x="2732576" y="0"/>
                </a:lnTo>
                <a:lnTo>
                  <a:pt x="2732576" y="1311636"/>
                </a:lnTo>
                <a:lnTo>
                  <a:pt x="0" y="1311636"/>
                </a:lnTo>
                <a:lnTo>
                  <a:pt x="0" y="0"/>
                </a:lnTo>
                <a:close/>
              </a:path>
            </a:pathLst>
          </a:custGeom>
          <a:blipFill>
            <a:blip r:embed="rId3"/>
            <a:stretch>
              <a:fillRect l="0" t="0" r="0" b="0"/>
            </a:stretch>
          </a:blipFill>
        </p:spPr>
      </p:sp>
      <p:grpSp>
        <p:nvGrpSpPr>
          <p:cNvPr name="Group 4" id="4"/>
          <p:cNvGrpSpPr/>
          <p:nvPr/>
        </p:nvGrpSpPr>
        <p:grpSpPr>
          <a:xfrm rot="0">
            <a:off x="1006871" y="1028700"/>
            <a:ext cx="11704125" cy="565374"/>
            <a:chOff x="0" y="0"/>
            <a:chExt cx="15605500" cy="753832"/>
          </a:xfrm>
        </p:grpSpPr>
        <p:sp>
          <p:nvSpPr>
            <p:cNvPr name="TextBox 5" id="5"/>
            <p:cNvSpPr txBox="true"/>
            <p:nvPr/>
          </p:nvSpPr>
          <p:spPr>
            <a:xfrm rot="0">
              <a:off x="0" y="-85725"/>
              <a:ext cx="6621147" cy="839557"/>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1 Bold"/>
                  <a:ea typeface="Public Sans 1 Bold"/>
                  <a:cs typeface="Public Sans 1 Bold"/>
                  <a:sym typeface="Public Sans 1 Bold"/>
                </a:rPr>
                <a:t>EXPERIMENT 2</a:t>
              </a:r>
            </a:p>
          </p:txBody>
        </p:sp>
        <p:sp>
          <p:nvSpPr>
            <p:cNvPr name="TextBox 6" id="6"/>
            <p:cNvSpPr txBox="true"/>
            <p:nvPr/>
          </p:nvSpPr>
          <p:spPr>
            <a:xfrm rot="0">
              <a:off x="5332125" y="81006"/>
              <a:ext cx="10273376" cy="534670"/>
            </a:xfrm>
            <a:prstGeom prst="rect">
              <a:avLst/>
            </a:prstGeom>
          </p:spPr>
          <p:txBody>
            <a:bodyPr anchor="t" rtlCol="false" tIns="0" lIns="0" bIns="0" rIns="0">
              <a:spAutoFit/>
            </a:bodyPr>
            <a:lstStyle/>
            <a:p>
              <a:pPr algn="ctr">
                <a:lnSpc>
                  <a:spcPts val="3359"/>
                </a:lnSpc>
              </a:pPr>
              <a:r>
                <a:rPr lang="en-US" sz="2400">
                  <a:solidFill>
                    <a:srgbClr val="2B2C30"/>
                  </a:solidFill>
                  <a:latin typeface="Public Sans 1"/>
                  <a:ea typeface="Public Sans 1"/>
                  <a:cs typeface="Public Sans 1"/>
                  <a:sym typeface="Public Sans 1"/>
                </a:rPr>
                <a:t>Why Cross-Model Fails</a:t>
              </a:r>
            </a:p>
          </p:txBody>
        </p:sp>
      </p:grpSp>
      <p:grpSp>
        <p:nvGrpSpPr>
          <p:cNvPr name="Group 7" id="7"/>
          <p:cNvGrpSpPr/>
          <p:nvPr/>
        </p:nvGrpSpPr>
        <p:grpSpPr>
          <a:xfrm rot="0">
            <a:off x="1002106" y="2156851"/>
            <a:ext cx="7659529" cy="4609525"/>
            <a:chOff x="0" y="0"/>
            <a:chExt cx="10212705" cy="6146033"/>
          </a:xfrm>
        </p:grpSpPr>
        <p:sp>
          <p:nvSpPr>
            <p:cNvPr name="Freeform 8" id="8"/>
            <p:cNvSpPr/>
            <p:nvPr/>
          </p:nvSpPr>
          <p:spPr>
            <a:xfrm flipH="false" flipV="false" rot="0">
              <a:off x="0" y="0"/>
              <a:ext cx="10212705" cy="6146033"/>
            </a:xfrm>
            <a:custGeom>
              <a:avLst/>
              <a:gdLst/>
              <a:ahLst/>
              <a:cxnLst/>
              <a:rect r="r" b="b" t="t" l="l"/>
              <a:pathLst>
                <a:path h="6146033" w="10212705">
                  <a:moveTo>
                    <a:pt x="0" y="1024381"/>
                  </a:moveTo>
                  <a:cubicBezTo>
                    <a:pt x="0" y="458597"/>
                    <a:pt x="458597" y="0"/>
                    <a:pt x="1024382" y="0"/>
                  </a:cubicBezTo>
                  <a:lnTo>
                    <a:pt x="9188323" y="0"/>
                  </a:lnTo>
                  <a:cubicBezTo>
                    <a:pt x="9754108" y="0"/>
                    <a:pt x="10212705" y="458597"/>
                    <a:pt x="10212705" y="1024381"/>
                  </a:cubicBezTo>
                  <a:lnTo>
                    <a:pt x="10212705" y="5121652"/>
                  </a:lnTo>
                  <a:cubicBezTo>
                    <a:pt x="10212705" y="5687437"/>
                    <a:pt x="9754108" y="6146033"/>
                    <a:pt x="9188323" y="6146033"/>
                  </a:cubicBezTo>
                  <a:lnTo>
                    <a:pt x="1024382" y="6146033"/>
                  </a:lnTo>
                  <a:cubicBezTo>
                    <a:pt x="458597" y="6146033"/>
                    <a:pt x="0" y="5687437"/>
                    <a:pt x="0" y="5121652"/>
                  </a:cubicBezTo>
                  <a:close/>
                </a:path>
              </a:pathLst>
            </a:custGeom>
            <a:solidFill>
              <a:srgbClr val="FCFBF7"/>
            </a:solidFill>
            <a:ln w="9525" cap="sq">
              <a:solidFill>
                <a:srgbClr val="C9C8BF"/>
              </a:solidFill>
              <a:prstDash val="solid"/>
              <a:miter/>
            </a:ln>
          </p:spPr>
        </p:sp>
        <p:sp>
          <p:nvSpPr>
            <p:cNvPr name="TextBox 9" id="9"/>
            <p:cNvSpPr txBox="true"/>
            <p:nvPr/>
          </p:nvSpPr>
          <p:spPr>
            <a:xfrm>
              <a:off x="0" y="-19050"/>
              <a:ext cx="10212705" cy="6165083"/>
            </a:xfrm>
            <a:prstGeom prst="rect">
              <a:avLst/>
            </a:prstGeom>
          </p:spPr>
          <p:txBody>
            <a:bodyPr anchor="t" rtlCol="false" tIns="50800" lIns="50800" bIns="50800" rIns="50800"/>
            <a:lstStyle/>
            <a:p>
              <a:pPr algn="l">
                <a:lnSpc>
                  <a:spcPts val="2640"/>
                </a:lnSpc>
              </a:pPr>
              <a:r>
                <a:rPr lang="en-US" sz="2200" b="true">
                  <a:solidFill>
                    <a:srgbClr val="2B2C30"/>
                  </a:solidFill>
                  <a:latin typeface="Public Sans 2 Bold"/>
                  <a:ea typeface="Public Sans 2 Bold"/>
                  <a:cs typeface="Public Sans 2 Bold"/>
                  <a:sym typeface="Public Sans 2 Bold"/>
                </a:rPr>
                <a:t>Claude + PromptX  →  compile FAIL</a:t>
              </a:r>
            </a:p>
            <a:p>
              <a:pPr algn="l">
                <a:lnSpc>
                  <a:spcPts val="2200"/>
                </a:lnSpc>
              </a:pPr>
              <a:r>
                <a:rPr lang="en-US" sz="1700" i="true">
                  <a:solidFill>
                    <a:srgbClr val="6B6A63"/>
                  </a:solidFill>
                  <a:latin typeface="Public Sans 2 Italics"/>
                  <a:ea typeface="Public Sans 2 Italics"/>
                  <a:cs typeface="Public Sans 2 Italics"/>
                  <a:sym typeface="Public Sans 2 Italics"/>
                </a:rPr>
                <a:t>Helper uses proposalId before VARIABLES declares it</a:t>
              </a:r>
            </a:p>
            <a:p>
              <a:pPr algn="l">
                <a:lnSpc>
                  <a:spcPts val="2049"/>
                </a:lnSpc>
              </a:pPr>
            </a:p>
            <a:p>
              <a:pPr algn="l">
                <a:lnSpc>
                  <a:spcPts val="2049"/>
                </a:lnSpc>
              </a:pPr>
              <a:r>
                <a:rPr lang="en-US" sz="1750">
                  <a:solidFill>
                    <a:srgbClr val="2B2C30"/>
                  </a:solidFill>
                  <a:latin typeface="Courier New"/>
                  <a:ea typeface="Courier New"/>
                  <a:cs typeface="Courier New"/>
                  <a:sym typeface="Courier New"/>
                </a:rPr>
                <a:t>NextProposalNum(p) ==</a:t>
              </a:r>
            </a:p>
            <a:p>
              <a:pPr algn="l">
                <a:lnSpc>
                  <a:spcPts val="2049"/>
                </a:lnSpc>
              </a:pPr>
              <a:r>
                <a:rPr lang="en-US" sz="1750">
                  <a:solidFill>
                    <a:srgbClr val="2B2C30"/>
                  </a:solidFill>
                  <a:latin typeface="Courier New"/>
                  <a:ea typeface="Courier New"/>
                  <a:cs typeface="Courier New"/>
                  <a:sym typeface="Courier New"/>
                </a:rPr>
                <a:t>  IF proposalId[p] = NoProposal</a:t>
              </a:r>
            </a:p>
            <a:p>
              <a:pPr algn="l">
                <a:lnSpc>
                  <a:spcPts val="2049"/>
                </a:lnSpc>
              </a:pPr>
              <a:r>
                <a:rPr lang="en-US" sz="1750">
                  <a:solidFill>
                    <a:srgbClr val="2B2C30"/>
                  </a:solidFill>
                  <a:latin typeface="Courier New"/>
                  <a:ea typeface="Courier New"/>
                  <a:cs typeface="Courier New"/>
                  <a:sym typeface="Courier New"/>
                </a:rPr>
                <a:t>  THEN 1</a:t>
              </a:r>
            </a:p>
            <a:p>
              <a:pPr algn="l">
                <a:lnSpc>
                  <a:spcPts val="2049"/>
                </a:lnSpc>
              </a:pPr>
              <a:r>
                <a:rPr lang="en-US" sz="1750">
                  <a:solidFill>
                    <a:srgbClr val="2B2C30"/>
                  </a:solidFill>
                  <a:latin typeface="Courier New"/>
                  <a:ea typeface="Courier New"/>
                  <a:cs typeface="Courier New"/>
                  <a:sym typeface="Courier New"/>
                </a:rPr>
                <a:t>  ELSE ProposalNum(proposalId[p]) + 1</a:t>
              </a:r>
            </a:p>
            <a:p>
              <a:pPr algn="l">
                <a:lnSpc>
                  <a:spcPts val="2049"/>
                </a:lnSpc>
              </a:pPr>
            </a:p>
            <a:p>
              <a:pPr algn="l">
                <a:lnSpc>
                  <a:spcPts val="2049"/>
                </a:lnSpc>
              </a:pPr>
              <a:r>
                <a:rPr lang="en-US" sz="1750">
                  <a:solidFill>
                    <a:srgbClr val="2B2C30"/>
                  </a:solidFill>
                  <a:latin typeface="Courier New"/>
                  <a:ea typeface="Courier New"/>
                  <a:cs typeface="Courier New"/>
                  <a:sym typeface="Courier New"/>
                </a:rPr>
                <a:t>VARIABLES</a:t>
              </a:r>
            </a:p>
            <a:p>
              <a:pPr algn="l">
                <a:lnSpc>
                  <a:spcPts val="2049"/>
                </a:lnSpc>
              </a:pPr>
              <a:r>
                <a:rPr lang="en-US" sz="1750">
                  <a:solidFill>
                    <a:srgbClr val="2B2C30"/>
                  </a:solidFill>
                  <a:latin typeface="Courier New"/>
                  <a:ea typeface="Courier New"/>
                  <a:cs typeface="Courier New"/>
                  <a:sym typeface="Courier New"/>
                </a:rPr>
                <a:t>  msgs, proposalId, ...</a:t>
              </a:r>
            </a:p>
            <a:p>
              <a:pPr algn="l">
                <a:lnSpc>
                  <a:spcPts val="2049"/>
                </a:lnSpc>
              </a:pPr>
            </a:p>
            <a:p>
              <a:pPr algn="l">
                <a:lnSpc>
                  <a:spcPts val="2300"/>
                </a:lnSpc>
              </a:pPr>
              <a:r>
                <a:rPr lang="en-US" sz="1800" b="true">
                  <a:solidFill>
                    <a:srgbClr val="B23A2E"/>
                  </a:solidFill>
                  <a:latin typeface="Public Sans 2 Bold"/>
                  <a:ea typeface="Public Sans 2 Bold"/>
                  <a:cs typeface="Public Sans 2 Bold"/>
                  <a:sym typeface="Public Sans 2 Bold"/>
                </a:rPr>
                <a:t>SANY: Unknown operator 'proposalId' </a:t>
              </a:r>
            </a:p>
          </p:txBody>
        </p:sp>
      </p:grpSp>
      <p:grpSp>
        <p:nvGrpSpPr>
          <p:cNvPr name="Group 10" id="10"/>
          <p:cNvGrpSpPr/>
          <p:nvPr/>
        </p:nvGrpSpPr>
        <p:grpSpPr>
          <a:xfrm rot="0">
            <a:off x="9145238" y="2156851"/>
            <a:ext cx="7659529" cy="4609525"/>
            <a:chOff x="0" y="0"/>
            <a:chExt cx="10212705" cy="6146033"/>
          </a:xfrm>
        </p:grpSpPr>
        <p:sp>
          <p:nvSpPr>
            <p:cNvPr name="Freeform 11" id="11"/>
            <p:cNvSpPr/>
            <p:nvPr/>
          </p:nvSpPr>
          <p:spPr>
            <a:xfrm flipH="false" flipV="false" rot="0">
              <a:off x="0" y="0"/>
              <a:ext cx="10212705" cy="6146033"/>
            </a:xfrm>
            <a:custGeom>
              <a:avLst/>
              <a:gdLst/>
              <a:ahLst/>
              <a:cxnLst/>
              <a:rect r="r" b="b" t="t" l="l"/>
              <a:pathLst>
                <a:path h="6146033" w="10212705">
                  <a:moveTo>
                    <a:pt x="0" y="1024381"/>
                  </a:moveTo>
                  <a:cubicBezTo>
                    <a:pt x="0" y="458597"/>
                    <a:pt x="458597" y="0"/>
                    <a:pt x="1024382" y="0"/>
                  </a:cubicBezTo>
                  <a:lnTo>
                    <a:pt x="9188323" y="0"/>
                  </a:lnTo>
                  <a:cubicBezTo>
                    <a:pt x="9754108" y="0"/>
                    <a:pt x="10212705" y="458597"/>
                    <a:pt x="10212705" y="1024381"/>
                  </a:cubicBezTo>
                  <a:lnTo>
                    <a:pt x="10212705" y="5121652"/>
                  </a:lnTo>
                  <a:cubicBezTo>
                    <a:pt x="10212705" y="5687437"/>
                    <a:pt x="9754108" y="6146033"/>
                    <a:pt x="9188323" y="6146033"/>
                  </a:cubicBezTo>
                  <a:lnTo>
                    <a:pt x="1024382" y="6146033"/>
                  </a:lnTo>
                  <a:cubicBezTo>
                    <a:pt x="458597" y="6146033"/>
                    <a:pt x="0" y="5687437"/>
                    <a:pt x="0" y="5121652"/>
                  </a:cubicBezTo>
                  <a:close/>
                </a:path>
              </a:pathLst>
            </a:custGeom>
            <a:solidFill>
              <a:srgbClr val="FCFBF7"/>
            </a:solidFill>
            <a:ln w="9525" cap="sq">
              <a:solidFill>
                <a:srgbClr val="C9C8BF"/>
              </a:solidFill>
              <a:prstDash val="solid"/>
              <a:miter/>
            </a:ln>
          </p:spPr>
        </p:sp>
        <p:sp>
          <p:nvSpPr>
            <p:cNvPr name="TextBox 12" id="12"/>
            <p:cNvSpPr txBox="true"/>
            <p:nvPr/>
          </p:nvSpPr>
          <p:spPr>
            <a:xfrm>
              <a:off x="0" y="-19050"/>
              <a:ext cx="10212705" cy="6165083"/>
            </a:xfrm>
            <a:prstGeom prst="rect">
              <a:avLst/>
            </a:prstGeom>
          </p:spPr>
          <p:txBody>
            <a:bodyPr anchor="t" rtlCol="false" tIns="50800" lIns="50800" bIns="50800" rIns="50800"/>
            <a:lstStyle/>
            <a:p>
              <a:pPr algn="l">
                <a:lnSpc>
                  <a:spcPts val="2640"/>
                </a:lnSpc>
              </a:pPr>
              <a:r>
                <a:rPr lang="en-US" sz="2200" b="true">
                  <a:solidFill>
                    <a:srgbClr val="2B2C30"/>
                  </a:solidFill>
                  <a:latin typeface="Public Sans 2 Bold"/>
                  <a:ea typeface="Public Sans 2 Bold"/>
                  <a:cs typeface="Public Sans 2 Bold"/>
                  <a:sym typeface="Public Sans 2 Bold"/>
                </a:rPr>
                <a:t>GPT-5 + PromptC  →  compile FAIL</a:t>
              </a:r>
            </a:p>
            <a:p>
              <a:pPr algn="l">
                <a:lnSpc>
                  <a:spcPts val="2200"/>
                </a:lnSpc>
              </a:pPr>
              <a:r>
                <a:rPr lang="en-US" sz="1700" i="true">
                  <a:solidFill>
                    <a:srgbClr val="6B6A63"/>
                  </a:solidFill>
                  <a:latin typeface="Public Sans 2 Italics"/>
                  <a:ea typeface="Public Sans 2 Italics"/>
                  <a:cs typeface="Public Sans 2 Italics"/>
                  <a:sym typeface="Public Sans 2 Italics"/>
                </a:rPr>
                <a:t>The two prompts use different no-proposal sentinels</a:t>
              </a:r>
            </a:p>
            <a:p>
              <a:pPr algn="l">
                <a:lnSpc>
                  <a:spcPts val="2049"/>
                </a:lnSpc>
              </a:pPr>
            </a:p>
            <a:p>
              <a:pPr algn="l">
                <a:lnSpc>
                  <a:spcPts val="2049"/>
                </a:lnSpc>
              </a:pPr>
              <a:r>
                <a:rPr lang="en-US" sz="1750">
                  <a:solidFill>
                    <a:srgbClr val="2B2C30"/>
                  </a:solidFill>
                  <a:latin typeface="Courier New"/>
                  <a:ea typeface="Courier New"/>
                  <a:cs typeface="Courier New"/>
                  <a:sym typeface="Courier New"/>
                </a:rPr>
                <a:t>\* Prompt_X (GPT): in-module tuple</a:t>
              </a:r>
            </a:p>
            <a:p>
              <a:pPr algn="l">
                <a:lnSpc>
                  <a:spcPts val="2049"/>
                </a:lnSpc>
              </a:pPr>
              <a:r>
                <a:rPr lang="en-US" sz="1750">
                  <a:solidFill>
                    <a:srgbClr val="2B2C30"/>
                  </a:solidFill>
                  <a:latin typeface="Courier New"/>
                  <a:ea typeface="Courier New"/>
                  <a:cs typeface="Courier New"/>
                  <a:sym typeface="Courier New"/>
                </a:rPr>
                <a:t>NoProposal == &lt;&lt;0, 0&gt;&gt;</a:t>
              </a:r>
            </a:p>
            <a:p>
              <a:pPr algn="l">
                <a:lnSpc>
                  <a:spcPts val="2049"/>
                </a:lnSpc>
              </a:pPr>
              <a:r>
                <a:rPr lang="en-US" sz="1750">
                  <a:solidFill>
                    <a:srgbClr val="2B2C30"/>
                  </a:solidFill>
                  <a:latin typeface="Courier New"/>
                  <a:ea typeface="Courier New"/>
                  <a:cs typeface="Courier New"/>
                  <a:sym typeface="Courier New"/>
                </a:rPr>
                <a:t>\* do NOT bind NoProposal in the cfg</a:t>
              </a:r>
            </a:p>
            <a:p>
              <a:pPr algn="l">
                <a:lnSpc>
                  <a:spcPts val="2049"/>
                </a:lnSpc>
              </a:pPr>
            </a:p>
            <a:p>
              <a:pPr algn="l">
                <a:lnSpc>
                  <a:spcPts val="2049"/>
                </a:lnSpc>
              </a:pPr>
              <a:r>
                <a:rPr lang="en-US" sz="1750">
                  <a:solidFill>
                    <a:srgbClr val="2B2C30"/>
                  </a:solidFill>
                  <a:latin typeface="Courier New"/>
                  <a:ea typeface="Courier New"/>
                  <a:cs typeface="Courier New"/>
                  <a:sym typeface="Courier New"/>
                </a:rPr>
                <a:t>\* Prompt_C (Claude): model value</a:t>
              </a:r>
            </a:p>
            <a:p>
              <a:pPr algn="l">
                <a:lnSpc>
                  <a:spcPts val="2049"/>
                </a:lnSpc>
              </a:pPr>
              <a:r>
                <a:rPr lang="en-US" sz="1750">
                  <a:solidFill>
                    <a:srgbClr val="2B2C30"/>
                  </a:solidFill>
                  <a:latin typeface="Courier New"/>
                  <a:ea typeface="Courier New"/>
                  <a:cs typeface="Courier New"/>
                  <a:sym typeface="Courier New"/>
                </a:rPr>
                <a:t>CONSTANTS ... NoValue   \* bound in cfg</a:t>
              </a:r>
            </a:p>
            <a:p>
              <a:pPr algn="l">
                <a:lnSpc>
                  <a:spcPts val="2049"/>
                </a:lnSpc>
              </a:pPr>
            </a:p>
            <a:p>
              <a:pPr algn="l">
                <a:lnSpc>
                  <a:spcPts val="2300"/>
                </a:lnSpc>
              </a:pPr>
              <a:r>
                <a:rPr lang="en-US" sz="1800" b="true">
                  <a:solidFill>
                    <a:srgbClr val="B23A2E"/>
                  </a:solidFill>
                  <a:latin typeface="Public Sans 2 Bold"/>
                  <a:ea typeface="Public Sans 2 Bold"/>
                  <a:cs typeface="Public Sans 2 Bold"/>
                  <a:sym typeface="Public Sans 2 Bold"/>
                </a:rPr>
                <a:t>Crossing the conventions → invalid TLA+</a:t>
              </a:r>
            </a:p>
          </p:txBody>
        </p:sp>
      </p:grpSp>
      <p:grpSp>
        <p:nvGrpSpPr>
          <p:cNvPr name="Group 13" id="13"/>
          <p:cNvGrpSpPr/>
          <p:nvPr/>
        </p:nvGrpSpPr>
        <p:grpSpPr>
          <a:xfrm rot="0">
            <a:off x="1002106" y="7045233"/>
            <a:ext cx="15809528" cy="1059523"/>
            <a:chOff x="0" y="0"/>
            <a:chExt cx="21079371" cy="1412697"/>
          </a:xfrm>
        </p:grpSpPr>
        <p:sp>
          <p:nvSpPr>
            <p:cNvPr name="Freeform 14" id="14"/>
            <p:cNvSpPr/>
            <p:nvPr/>
          </p:nvSpPr>
          <p:spPr>
            <a:xfrm flipH="false" flipV="false" rot="0">
              <a:off x="0" y="0"/>
              <a:ext cx="21079333" cy="1412748"/>
            </a:xfrm>
            <a:custGeom>
              <a:avLst/>
              <a:gdLst/>
              <a:ahLst/>
              <a:cxnLst/>
              <a:rect r="r" b="b" t="t" l="l"/>
              <a:pathLst>
                <a:path h="1412748" w="21079333">
                  <a:moveTo>
                    <a:pt x="0" y="235458"/>
                  </a:moveTo>
                  <a:cubicBezTo>
                    <a:pt x="0" y="105410"/>
                    <a:pt x="105410" y="0"/>
                    <a:pt x="235458" y="0"/>
                  </a:cubicBezTo>
                  <a:lnTo>
                    <a:pt x="20843875" y="0"/>
                  </a:lnTo>
                  <a:cubicBezTo>
                    <a:pt x="20973923" y="0"/>
                    <a:pt x="21079333" y="105410"/>
                    <a:pt x="21079333" y="235458"/>
                  </a:cubicBezTo>
                  <a:lnTo>
                    <a:pt x="21079333" y="1177290"/>
                  </a:lnTo>
                  <a:cubicBezTo>
                    <a:pt x="21079333" y="1307338"/>
                    <a:pt x="20973923" y="1412748"/>
                    <a:pt x="20843875" y="1412748"/>
                  </a:cubicBezTo>
                  <a:lnTo>
                    <a:pt x="235458" y="1412748"/>
                  </a:lnTo>
                  <a:cubicBezTo>
                    <a:pt x="105410" y="1412748"/>
                    <a:pt x="0" y="1307338"/>
                    <a:pt x="0" y="1177290"/>
                  </a:cubicBezTo>
                  <a:close/>
                </a:path>
              </a:pathLst>
            </a:custGeom>
            <a:solidFill>
              <a:srgbClr val="E6E4D9"/>
            </a:solidFill>
            <a:ln w="9525" cap="sq">
              <a:solidFill>
                <a:srgbClr val="C9C8BF"/>
              </a:solidFill>
              <a:prstDash val="solid"/>
              <a:miter/>
            </a:ln>
          </p:spPr>
        </p:sp>
        <p:sp>
          <p:nvSpPr>
            <p:cNvPr name="TextBox 15" id="15"/>
            <p:cNvSpPr txBox="true"/>
            <p:nvPr/>
          </p:nvSpPr>
          <p:spPr>
            <a:xfrm>
              <a:off x="0" y="-28575"/>
              <a:ext cx="21079371" cy="1441272"/>
            </a:xfrm>
            <a:prstGeom prst="rect">
              <a:avLst/>
            </a:prstGeom>
          </p:spPr>
          <p:txBody>
            <a:bodyPr anchor="ctr" rtlCol="false" tIns="50800" lIns="50800" bIns="50800" rIns="50800"/>
            <a:lstStyle/>
            <a:p>
              <a:pPr algn="l">
                <a:lnSpc>
                  <a:spcPts val="2900"/>
                </a:lnSpc>
              </a:pPr>
              <a:r>
                <a:rPr lang="en-US" sz="2300" b="true">
                  <a:solidFill>
                    <a:srgbClr val="2B2C30"/>
                  </a:solidFill>
                  <a:latin typeface="Public Sans 2 Bold"/>
                  <a:ea typeface="Public Sans 2 Bold"/>
                  <a:cs typeface="Public Sans 2 Bold"/>
                  <a:sym typeface="Public Sans 2 Bold"/>
                </a:rPr>
                <a:t>Failures are fingerprints, not noise — each prompt bakes in its own model's generation order and sentinel style.</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555424" y="8975364"/>
            <a:ext cx="2732576" cy="1311636"/>
          </a:xfrm>
          <a:custGeom>
            <a:avLst/>
            <a:gdLst/>
            <a:ahLst/>
            <a:cxnLst/>
            <a:rect r="r" b="b" t="t" l="l"/>
            <a:pathLst>
              <a:path h="1311636" w="2732576">
                <a:moveTo>
                  <a:pt x="0" y="0"/>
                </a:moveTo>
                <a:lnTo>
                  <a:pt x="2732576" y="0"/>
                </a:lnTo>
                <a:lnTo>
                  <a:pt x="2732576" y="1311636"/>
                </a:lnTo>
                <a:lnTo>
                  <a:pt x="0" y="1311636"/>
                </a:lnTo>
                <a:lnTo>
                  <a:pt x="0" y="0"/>
                </a:lnTo>
                <a:close/>
              </a:path>
            </a:pathLst>
          </a:custGeom>
          <a:blipFill>
            <a:blip r:embed="rId3"/>
            <a:stretch>
              <a:fillRect l="0" t="0" r="0" b="0"/>
            </a:stretch>
          </a:blipFill>
        </p:spPr>
      </p:sp>
      <p:sp>
        <p:nvSpPr>
          <p:cNvPr name="Freeform 4" id="4"/>
          <p:cNvSpPr/>
          <p:nvPr/>
        </p:nvSpPr>
        <p:spPr>
          <a:xfrm flipH="false" flipV="false" rot="0">
            <a:off x="1028700" y="5707950"/>
            <a:ext cx="11437006" cy="3550350"/>
          </a:xfrm>
          <a:custGeom>
            <a:avLst/>
            <a:gdLst/>
            <a:ahLst/>
            <a:cxnLst/>
            <a:rect r="r" b="b" t="t" l="l"/>
            <a:pathLst>
              <a:path h="3550350" w="11437006">
                <a:moveTo>
                  <a:pt x="0" y="0"/>
                </a:moveTo>
                <a:lnTo>
                  <a:pt x="11437006" y="0"/>
                </a:lnTo>
                <a:lnTo>
                  <a:pt x="11437006" y="3550350"/>
                </a:lnTo>
                <a:lnTo>
                  <a:pt x="0" y="3550350"/>
                </a:lnTo>
                <a:lnTo>
                  <a:pt x="0" y="0"/>
                </a:lnTo>
                <a:close/>
              </a:path>
            </a:pathLst>
          </a:custGeom>
          <a:blipFill>
            <a:blip r:embed="rId4"/>
            <a:stretch>
              <a:fillRect l="0" t="0" r="0" b="0"/>
            </a:stretch>
          </a:blipFill>
        </p:spPr>
      </p:sp>
      <p:sp>
        <p:nvSpPr>
          <p:cNvPr name="Freeform 5" id="5"/>
          <p:cNvSpPr/>
          <p:nvPr/>
        </p:nvSpPr>
        <p:spPr>
          <a:xfrm flipH="false" flipV="false" rot="0">
            <a:off x="1028700" y="2161610"/>
            <a:ext cx="6205158" cy="3188762"/>
          </a:xfrm>
          <a:custGeom>
            <a:avLst/>
            <a:gdLst/>
            <a:ahLst/>
            <a:cxnLst/>
            <a:rect r="r" b="b" t="t" l="l"/>
            <a:pathLst>
              <a:path h="3188762" w="6205158">
                <a:moveTo>
                  <a:pt x="0" y="0"/>
                </a:moveTo>
                <a:lnTo>
                  <a:pt x="6205158" y="0"/>
                </a:lnTo>
                <a:lnTo>
                  <a:pt x="6205158" y="3188762"/>
                </a:lnTo>
                <a:lnTo>
                  <a:pt x="0" y="3188762"/>
                </a:lnTo>
                <a:lnTo>
                  <a:pt x="0" y="0"/>
                </a:lnTo>
                <a:close/>
              </a:path>
            </a:pathLst>
          </a:custGeom>
          <a:blipFill>
            <a:blip r:embed="rId5"/>
            <a:stretch>
              <a:fillRect l="0" t="0" r="0" b="0"/>
            </a:stretch>
          </a:blipFill>
        </p:spPr>
      </p:sp>
      <p:sp>
        <p:nvSpPr>
          <p:cNvPr name="Freeform 6" id="6"/>
          <p:cNvSpPr/>
          <p:nvPr/>
        </p:nvSpPr>
        <p:spPr>
          <a:xfrm flipH="false" flipV="false" rot="0">
            <a:off x="7397695" y="2265046"/>
            <a:ext cx="10890305" cy="2981890"/>
          </a:xfrm>
          <a:custGeom>
            <a:avLst/>
            <a:gdLst/>
            <a:ahLst/>
            <a:cxnLst/>
            <a:rect r="r" b="b" t="t" l="l"/>
            <a:pathLst>
              <a:path h="2981890" w="10890305">
                <a:moveTo>
                  <a:pt x="0" y="0"/>
                </a:moveTo>
                <a:lnTo>
                  <a:pt x="10890305" y="0"/>
                </a:lnTo>
                <a:lnTo>
                  <a:pt x="10890305" y="2981890"/>
                </a:lnTo>
                <a:lnTo>
                  <a:pt x="0" y="2981890"/>
                </a:lnTo>
                <a:lnTo>
                  <a:pt x="0" y="0"/>
                </a:lnTo>
                <a:close/>
              </a:path>
            </a:pathLst>
          </a:custGeom>
          <a:blipFill>
            <a:blip r:embed="rId6"/>
            <a:stretch>
              <a:fillRect l="0" t="-918" r="0" b="-20515"/>
            </a:stretch>
          </a:blipFill>
        </p:spPr>
      </p:sp>
      <p:grpSp>
        <p:nvGrpSpPr>
          <p:cNvPr name="Group 7" id="7"/>
          <p:cNvGrpSpPr/>
          <p:nvPr/>
        </p:nvGrpSpPr>
        <p:grpSpPr>
          <a:xfrm rot="0">
            <a:off x="1006871" y="1028700"/>
            <a:ext cx="11704125" cy="565374"/>
            <a:chOff x="0" y="0"/>
            <a:chExt cx="15605500" cy="753832"/>
          </a:xfrm>
        </p:grpSpPr>
        <p:sp>
          <p:nvSpPr>
            <p:cNvPr name="TextBox 8" id="8"/>
            <p:cNvSpPr txBox="true"/>
            <p:nvPr/>
          </p:nvSpPr>
          <p:spPr>
            <a:xfrm rot="0">
              <a:off x="0" y="-85725"/>
              <a:ext cx="6621147" cy="839557"/>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1 Bold"/>
                  <a:ea typeface="Public Sans 1 Bold"/>
                  <a:cs typeface="Public Sans 1 Bold"/>
                  <a:sym typeface="Public Sans 1 Bold"/>
                </a:rPr>
                <a:t>EXPERIMENT 3</a:t>
              </a:r>
            </a:p>
          </p:txBody>
        </p:sp>
        <p:sp>
          <p:nvSpPr>
            <p:cNvPr name="TextBox 9" id="9"/>
            <p:cNvSpPr txBox="true"/>
            <p:nvPr/>
          </p:nvSpPr>
          <p:spPr>
            <a:xfrm rot="0">
              <a:off x="5332125" y="81006"/>
              <a:ext cx="10273376" cy="534670"/>
            </a:xfrm>
            <a:prstGeom prst="rect">
              <a:avLst/>
            </a:prstGeom>
          </p:spPr>
          <p:txBody>
            <a:bodyPr anchor="t" rtlCol="false" tIns="0" lIns="0" bIns="0" rIns="0">
              <a:spAutoFit/>
            </a:bodyPr>
            <a:lstStyle/>
            <a:p>
              <a:pPr algn="ctr">
                <a:lnSpc>
                  <a:spcPts val="3359"/>
                </a:lnSpc>
              </a:pPr>
              <a:r>
                <a:rPr lang="en-US" sz="2400">
                  <a:solidFill>
                    <a:srgbClr val="2B2C30"/>
                  </a:solidFill>
                  <a:latin typeface="Public Sans 1"/>
                  <a:ea typeface="Public Sans 1"/>
                  <a:cs typeface="Public Sans 1"/>
                  <a:sym typeface="Public Sans 1"/>
                </a:rPr>
                <a:t>Configuration Scaling</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555424" y="8975364"/>
            <a:ext cx="2732576" cy="1311636"/>
          </a:xfrm>
          <a:custGeom>
            <a:avLst/>
            <a:gdLst/>
            <a:ahLst/>
            <a:cxnLst/>
            <a:rect r="r" b="b" t="t" l="l"/>
            <a:pathLst>
              <a:path h="1311636" w="2732576">
                <a:moveTo>
                  <a:pt x="0" y="0"/>
                </a:moveTo>
                <a:lnTo>
                  <a:pt x="2732576" y="0"/>
                </a:lnTo>
                <a:lnTo>
                  <a:pt x="2732576" y="1311636"/>
                </a:lnTo>
                <a:lnTo>
                  <a:pt x="0" y="1311636"/>
                </a:lnTo>
                <a:lnTo>
                  <a:pt x="0" y="0"/>
                </a:lnTo>
                <a:close/>
              </a:path>
            </a:pathLst>
          </a:custGeom>
          <a:blipFill>
            <a:blip r:embed="rId3"/>
            <a:stretch>
              <a:fillRect l="0" t="0" r="0" b="0"/>
            </a:stretch>
          </a:blipFill>
        </p:spPr>
      </p:sp>
      <p:grpSp>
        <p:nvGrpSpPr>
          <p:cNvPr name="Group 4" id="4"/>
          <p:cNvGrpSpPr/>
          <p:nvPr/>
        </p:nvGrpSpPr>
        <p:grpSpPr>
          <a:xfrm rot="0">
            <a:off x="1006871" y="1028700"/>
            <a:ext cx="11704125" cy="565374"/>
            <a:chOff x="0" y="0"/>
            <a:chExt cx="15605500" cy="753832"/>
          </a:xfrm>
        </p:grpSpPr>
        <p:sp>
          <p:nvSpPr>
            <p:cNvPr name="TextBox 5" id="5"/>
            <p:cNvSpPr txBox="true"/>
            <p:nvPr/>
          </p:nvSpPr>
          <p:spPr>
            <a:xfrm rot="0">
              <a:off x="0" y="-85725"/>
              <a:ext cx="6621147" cy="839557"/>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1 Bold"/>
                  <a:ea typeface="Public Sans 1 Bold"/>
                  <a:cs typeface="Public Sans 1 Bold"/>
                  <a:sym typeface="Public Sans 1 Bold"/>
                </a:rPr>
                <a:t>EXPERIMENT 3</a:t>
              </a:r>
            </a:p>
          </p:txBody>
        </p:sp>
        <p:sp>
          <p:nvSpPr>
            <p:cNvPr name="TextBox 6" id="6"/>
            <p:cNvSpPr txBox="true"/>
            <p:nvPr/>
          </p:nvSpPr>
          <p:spPr>
            <a:xfrm rot="0">
              <a:off x="5332125" y="81006"/>
              <a:ext cx="10273376" cy="534670"/>
            </a:xfrm>
            <a:prstGeom prst="rect">
              <a:avLst/>
            </a:prstGeom>
          </p:spPr>
          <p:txBody>
            <a:bodyPr anchor="t" rtlCol="false" tIns="0" lIns="0" bIns="0" rIns="0">
              <a:spAutoFit/>
            </a:bodyPr>
            <a:lstStyle/>
            <a:p>
              <a:pPr algn="ctr">
                <a:lnSpc>
                  <a:spcPts val="3359"/>
                </a:lnSpc>
              </a:pPr>
              <a:r>
                <a:rPr lang="en-US" sz="2400">
                  <a:solidFill>
                    <a:srgbClr val="2B2C30"/>
                  </a:solidFill>
                  <a:latin typeface="Public Sans 1"/>
                  <a:ea typeface="Public Sans 1"/>
                  <a:cs typeface="Public Sans 1"/>
                  <a:sym typeface="Public Sans 1"/>
                </a:rPr>
                <a:t>Why It Explodes</a:t>
              </a:r>
            </a:p>
          </p:txBody>
        </p:sp>
      </p:grpSp>
      <p:grpSp>
        <p:nvGrpSpPr>
          <p:cNvPr name="Group 7" id="7"/>
          <p:cNvGrpSpPr/>
          <p:nvPr/>
        </p:nvGrpSpPr>
        <p:grpSpPr>
          <a:xfrm rot="0">
            <a:off x="1002106" y="2156851"/>
            <a:ext cx="8509521" cy="4509526"/>
            <a:chOff x="0" y="0"/>
            <a:chExt cx="11346028" cy="6012701"/>
          </a:xfrm>
        </p:grpSpPr>
        <p:sp>
          <p:nvSpPr>
            <p:cNvPr name="Freeform 8" id="8"/>
            <p:cNvSpPr/>
            <p:nvPr/>
          </p:nvSpPr>
          <p:spPr>
            <a:xfrm flipH="false" flipV="false" rot="0">
              <a:off x="0" y="0"/>
              <a:ext cx="11346053" cy="6012688"/>
            </a:xfrm>
            <a:custGeom>
              <a:avLst/>
              <a:gdLst/>
              <a:ahLst/>
              <a:cxnLst/>
              <a:rect r="r" b="b" t="t" l="l"/>
              <a:pathLst>
                <a:path h="6012688" w="11346053">
                  <a:moveTo>
                    <a:pt x="0" y="1002157"/>
                  </a:moveTo>
                  <a:cubicBezTo>
                    <a:pt x="0" y="448691"/>
                    <a:pt x="448691" y="0"/>
                    <a:pt x="1002157" y="0"/>
                  </a:cubicBezTo>
                  <a:lnTo>
                    <a:pt x="10343896" y="0"/>
                  </a:lnTo>
                  <a:cubicBezTo>
                    <a:pt x="10897362" y="0"/>
                    <a:pt x="11346053" y="448691"/>
                    <a:pt x="11346053" y="1002157"/>
                  </a:cubicBezTo>
                  <a:lnTo>
                    <a:pt x="11346053" y="5010531"/>
                  </a:lnTo>
                  <a:cubicBezTo>
                    <a:pt x="11346053" y="5563997"/>
                    <a:pt x="10897362" y="6012688"/>
                    <a:pt x="10343896" y="6012688"/>
                  </a:cubicBezTo>
                  <a:lnTo>
                    <a:pt x="1002157" y="6012688"/>
                  </a:lnTo>
                  <a:cubicBezTo>
                    <a:pt x="448691" y="6012688"/>
                    <a:pt x="0" y="5563997"/>
                    <a:pt x="0" y="5010531"/>
                  </a:cubicBezTo>
                  <a:close/>
                </a:path>
              </a:pathLst>
            </a:custGeom>
            <a:solidFill>
              <a:srgbClr val="FCFBF7"/>
            </a:solidFill>
            <a:ln w="9525" cap="sq">
              <a:solidFill>
                <a:srgbClr val="C9C8BF"/>
              </a:solidFill>
              <a:prstDash val="solid"/>
              <a:miter/>
            </a:ln>
          </p:spPr>
        </p:sp>
        <p:sp>
          <p:nvSpPr>
            <p:cNvPr name="TextBox 9" id="9"/>
            <p:cNvSpPr txBox="true"/>
            <p:nvPr/>
          </p:nvSpPr>
          <p:spPr>
            <a:xfrm>
              <a:off x="0" y="0"/>
              <a:ext cx="11346028" cy="6012701"/>
            </a:xfrm>
            <a:prstGeom prst="rect">
              <a:avLst/>
            </a:prstGeom>
          </p:spPr>
          <p:txBody>
            <a:bodyPr anchor="t" rtlCol="false" tIns="50800" lIns="50800" bIns="50800" rIns="50800"/>
            <a:lstStyle/>
            <a:p>
              <a:pPr algn="l">
                <a:lnSpc>
                  <a:spcPts val="2499"/>
                </a:lnSpc>
              </a:pPr>
              <a:r>
                <a:rPr lang="en-US" sz="2200" b="true">
                  <a:solidFill>
                    <a:srgbClr val="2B2C30"/>
                  </a:solidFill>
                  <a:latin typeface="Public Sans 2 Bold"/>
                  <a:ea typeface="Public Sans 2 Bold"/>
                  <a:cs typeface="Public Sans 2 Bold"/>
                  <a:sym typeface="Public Sans 2 Bold"/>
                </a:rPr>
                <a:t>GPT's HandlePromise — two disjuncts</a:t>
              </a:r>
            </a:p>
            <a:p>
              <a:pPr algn="l">
                <a:lnSpc>
                  <a:spcPts val="1900"/>
                </a:lnSpc>
              </a:pPr>
            </a:p>
            <a:p>
              <a:pPr algn="l">
                <a:lnSpc>
                  <a:spcPts val="1900"/>
                </a:lnSpc>
              </a:pPr>
              <a:r>
                <a:rPr lang="en-US" sz="1650">
                  <a:solidFill>
                    <a:srgbClr val="2B2C30"/>
                  </a:solidFill>
                  <a:latin typeface="Courier New"/>
                  <a:ea typeface="Courier New"/>
                  <a:cs typeface="Courier New"/>
                  <a:sym typeface="Courier New"/>
                </a:rPr>
                <a:t>HandlePromise(p, m) ==</a:t>
              </a:r>
            </a:p>
            <a:p>
              <a:pPr algn="l">
                <a:lnSpc>
                  <a:spcPts val="1900"/>
                </a:lnSpc>
              </a:pPr>
              <a:r>
                <a:rPr lang="en-US" sz="1650">
                  <a:solidFill>
                    <a:srgbClr val="2B2C30"/>
                  </a:solidFill>
                  <a:latin typeface="Courier New"/>
                  <a:ea typeface="Courier New"/>
                  <a:cs typeface="Courier New"/>
                  <a:sym typeface="Courier New"/>
                </a:rPr>
                <a:t>  /\ m \in msgs</a:t>
              </a:r>
            </a:p>
            <a:p>
              <a:pPr algn="l">
                <a:lnSpc>
                  <a:spcPts val="1900"/>
                </a:lnSpc>
              </a:pPr>
              <a:r>
                <a:rPr lang="en-US" sz="1650">
                  <a:solidFill>
                    <a:srgbClr val="2B2C30"/>
                  </a:solidFill>
                  <a:latin typeface="Courier New"/>
                  <a:ea typeface="Courier New"/>
                  <a:cs typeface="Courier New"/>
                  <a:sym typeface="Courier New"/>
                </a:rPr>
                <a:t>  /\ m.kind = "Promise"</a:t>
              </a:r>
            </a:p>
            <a:p>
              <a:pPr algn="l">
                <a:lnSpc>
                  <a:spcPts val="1900"/>
                </a:lnSpc>
              </a:pPr>
              <a:r>
                <a:rPr lang="en-US" sz="1650">
                  <a:solidFill>
                    <a:srgbClr val="2B2C30"/>
                  </a:solidFill>
                  <a:latin typeface="Courier New"/>
                  <a:ea typeface="Courier New"/>
                  <a:cs typeface="Courier New"/>
                  <a:sym typeface="Courier New"/>
                </a:rPr>
                <a:t>  /\ p \in Proposers</a:t>
              </a:r>
            </a:p>
            <a:p>
              <a:pPr algn="l">
                <a:lnSpc>
                  <a:spcPts val="1900"/>
                </a:lnSpc>
              </a:pPr>
              <a:r>
                <a:rPr lang="en-US" sz="1650">
                  <a:solidFill>
                    <a:srgbClr val="2B2C30"/>
                  </a:solidFill>
                  <a:latin typeface="Courier New"/>
                  <a:ea typeface="Courier New"/>
                  <a:cs typeface="Courier New"/>
                  <a:sym typeface="Courier New"/>
                </a:rPr>
                <a:t>  /\ m.to = p</a:t>
              </a:r>
            </a:p>
            <a:p>
              <a:pPr algn="l">
                <a:lnSpc>
                  <a:spcPts val="1900"/>
                </a:lnSpc>
              </a:pPr>
              <a:r>
                <a:rPr lang="en-US" sz="1650">
                  <a:solidFill>
                    <a:srgbClr val="2B2C30"/>
                  </a:solidFill>
                  <a:latin typeface="Courier New"/>
                  <a:ea typeface="Courier New"/>
                  <a:cs typeface="Courier New"/>
                  <a:sym typeface="Courier New"/>
                </a:rPr>
                <a:t>  /\ ( \* process a fresh promise</a:t>
              </a:r>
            </a:p>
            <a:p>
              <a:pPr algn="l">
                <a:lnSpc>
                  <a:spcPts val="1900"/>
                </a:lnSpc>
              </a:pPr>
              <a:r>
                <a:rPr lang="en-US" sz="1650">
                  <a:solidFill>
                    <a:srgbClr val="2B2C30"/>
                  </a:solidFill>
                  <a:latin typeface="Courier New"/>
                  <a:ea typeface="Courier New"/>
                  <a:cs typeface="Courier New"/>
                  <a:sym typeface="Courier New"/>
                </a:rPr>
                <a:t>         /\ m.pid = proposalId[p]</a:t>
              </a:r>
            </a:p>
            <a:p>
              <a:pPr algn="l">
                <a:lnSpc>
                  <a:spcPts val="1900"/>
                </a:lnSpc>
              </a:pPr>
              <a:r>
                <a:rPr lang="en-US" sz="1650">
                  <a:solidFill>
                    <a:srgbClr val="2B2C30"/>
                  </a:solidFill>
                  <a:latin typeface="Courier New"/>
                  <a:ea typeface="Courier New"/>
                  <a:cs typeface="Courier New"/>
                  <a:sym typeface="Courier New"/>
                </a:rPr>
                <a:t>         /\ ~(m.from \in promisesRcvd[p])</a:t>
              </a:r>
            </a:p>
            <a:p>
              <a:pPr algn="l">
                <a:lnSpc>
                  <a:spcPts val="1900"/>
                </a:lnSpc>
              </a:pPr>
              <a:r>
                <a:rPr lang="en-US" sz="1650">
                  <a:solidFill>
                    <a:srgbClr val="2B2C30"/>
                  </a:solidFill>
                  <a:latin typeface="Courier New"/>
                  <a:ea typeface="Courier New"/>
                  <a:cs typeface="Courier New"/>
                  <a:sym typeface="Courier New"/>
                </a:rPr>
                <a:t>         /\ LET ... IN  \* update state;</a:t>
              </a:r>
            </a:p>
            <a:p>
              <a:pPr algn="l">
                <a:lnSpc>
                  <a:spcPts val="1900"/>
                </a:lnSpc>
              </a:pPr>
              <a:r>
                <a:rPr lang="en-US" sz="1650">
                  <a:solidFill>
                    <a:srgbClr val="2B2C30"/>
                  </a:solidFill>
                  <a:latin typeface="Courier New"/>
                  <a:ea typeface="Courier New"/>
                  <a:cs typeface="Courier New"/>
                  <a:sym typeface="Courier New"/>
                </a:rPr>
                <a:t>                       \*   emit Accept msgs</a:t>
              </a:r>
            </a:p>
            <a:p>
              <a:pPr algn="l">
                <a:lnSpc>
                  <a:spcPts val="1900"/>
                </a:lnSpc>
              </a:pPr>
              <a:r>
                <a:rPr lang="en-US" sz="1650" b="true">
                  <a:solidFill>
                    <a:srgbClr val="B23A2E"/>
                  </a:solidFill>
                  <a:latin typeface="Courier New Bold"/>
                  <a:ea typeface="Courier New Bold"/>
                  <a:cs typeface="Courier New Bold"/>
                  <a:sym typeface="Courier New Bold"/>
                </a:rPr>
                <a:t>     \/ \* ignore duplicates or old promises</a:t>
              </a:r>
            </a:p>
            <a:p>
              <a:pPr algn="l">
                <a:lnSpc>
                  <a:spcPts val="1900"/>
                </a:lnSpc>
              </a:pPr>
              <a:r>
                <a:rPr lang="en-US" sz="1650" b="true">
                  <a:solidFill>
                    <a:srgbClr val="B23A2E"/>
                  </a:solidFill>
                  <a:latin typeface="Courier New Bold"/>
                  <a:ea typeface="Courier New Bold"/>
                  <a:cs typeface="Courier New Bold"/>
                  <a:sym typeface="Courier New Bold"/>
                </a:rPr>
                <a:t>         /\ UNCHANGED vars</a:t>
              </a:r>
            </a:p>
            <a:p>
              <a:pPr algn="l">
                <a:lnSpc>
                  <a:spcPts val="1900"/>
                </a:lnSpc>
              </a:pPr>
              <a:r>
                <a:rPr lang="en-US" sz="1650">
                  <a:solidFill>
                    <a:srgbClr val="2B2C30"/>
                  </a:solidFill>
                  <a:latin typeface="Courier New"/>
                  <a:ea typeface="Courier New"/>
                  <a:cs typeface="Courier New"/>
                  <a:sym typeface="Courier New"/>
                </a:rPr>
                <a:t>     )</a:t>
              </a:r>
            </a:p>
          </p:txBody>
        </p:sp>
      </p:grpSp>
      <p:sp>
        <p:nvSpPr>
          <p:cNvPr name="TextBox 10" id="10"/>
          <p:cNvSpPr txBox="true"/>
          <p:nvPr/>
        </p:nvSpPr>
        <p:spPr>
          <a:xfrm rot="0">
            <a:off x="9899999" y="2261902"/>
            <a:ext cx="7299998" cy="4388101"/>
          </a:xfrm>
          <a:prstGeom prst="rect">
            <a:avLst/>
          </a:prstGeom>
        </p:spPr>
        <p:txBody>
          <a:bodyPr anchor="t" rtlCol="false" tIns="0" lIns="0" bIns="0" rIns="0">
            <a:spAutoFit/>
          </a:bodyPr>
          <a:lstStyle/>
          <a:p>
            <a:pPr algn="l" marL="247333" indent="-82444" lvl="2">
              <a:lnSpc>
                <a:spcPts val="2700"/>
              </a:lnSpc>
              <a:buFont typeface="Arial"/>
              <a:buChar char="⚬"/>
            </a:pPr>
            <a:r>
              <a:rPr lang="en-US" sz="2050">
                <a:solidFill>
                  <a:srgbClr val="2B2C30"/>
                </a:solidFill>
                <a:latin typeface="Public Sans 2"/>
                <a:ea typeface="Public Sans 2"/>
                <a:cs typeface="Public Sans 2"/>
                <a:sym typeface="Public Sans 2"/>
              </a:rPr>
              <a:t>Disjunct (2) has no guard — every Promise can be processed OR ignored</a:t>
            </a:r>
          </a:p>
          <a:p>
            <a:pPr algn="l" marL="247333" indent="-82444" lvl="2">
              <a:lnSpc>
                <a:spcPts val="2700"/>
              </a:lnSpc>
              <a:buFont typeface="Arial"/>
              <a:buChar char="⚬"/>
            </a:pPr>
            <a:r>
              <a:rPr lang="en-US" sz="2050">
                <a:solidFill>
                  <a:srgbClr val="2B2C30"/>
                </a:solidFill>
                <a:latin typeface="Public Sans 2"/>
                <a:ea typeface="Public Sans 2"/>
                <a:cs typeface="Public Sans 2"/>
                <a:sym typeface="Public Sans 2"/>
              </a:rPr>
              <a:t>TLC must explore both → branching doubles on every message</a:t>
            </a:r>
          </a:p>
          <a:p>
            <a:pPr algn="l" marL="247333" indent="-82444" lvl="2">
              <a:lnSpc>
                <a:spcPts val="2700"/>
              </a:lnSpc>
              <a:buFont typeface="Arial"/>
              <a:buChar char="⚬"/>
            </a:pPr>
            <a:r>
              <a:rPr lang="en-US" sz="2050">
                <a:solidFill>
                  <a:srgbClr val="2B2C30"/>
                </a:solidFill>
                <a:latin typeface="Public Sans 2"/>
                <a:ea typeface="Public Sans 2"/>
                <a:cs typeface="Public Sans 2"/>
                <a:sym typeface="Public Sans 2"/>
              </a:rPr>
              <a:t>Same config, Small: 1,217 states (Claude) vs 1.86M (GPT)</a:t>
            </a:r>
          </a:p>
          <a:p>
            <a:pPr algn="l" marL="247333" indent="-82444" lvl="2">
              <a:lnSpc>
                <a:spcPts val="2700"/>
              </a:lnSpc>
              <a:buFont typeface="Arial"/>
              <a:buChar char="⚬"/>
            </a:pPr>
            <a:r>
              <a:rPr lang="en-US" sz="2050">
                <a:solidFill>
                  <a:srgbClr val="2B2C30"/>
                </a:solidFill>
                <a:latin typeface="Public Sans 2"/>
                <a:ea typeface="Public Sans 2"/>
                <a:cs typeface="Public Sans 2"/>
                <a:sym typeface="Public Sans 2"/>
              </a:rPr>
              <a:t>Claude's HandlePromise has no such stutter branch</a:t>
            </a:r>
          </a:p>
        </p:txBody>
      </p:sp>
      <p:grpSp>
        <p:nvGrpSpPr>
          <p:cNvPr name="Group 11" id="11"/>
          <p:cNvGrpSpPr/>
          <p:nvPr/>
        </p:nvGrpSpPr>
        <p:grpSpPr>
          <a:xfrm rot="0">
            <a:off x="1002106" y="6895233"/>
            <a:ext cx="15809528" cy="1059523"/>
            <a:chOff x="0" y="0"/>
            <a:chExt cx="21079371" cy="1412697"/>
          </a:xfrm>
        </p:grpSpPr>
        <p:sp>
          <p:nvSpPr>
            <p:cNvPr name="Freeform 12" id="12"/>
            <p:cNvSpPr/>
            <p:nvPr/>
          </p:nvSpPr>
          <p:spPr>
            <a:xfrm flipH="false" flipV="false" rot="0">
              <a:off x="0" y="0"/>
              <a:ext cx="21079333" cy="1412748"/>
            </a:xfrm>
            <a:custGeom>
              <a:avLst/>
              <a:gdLst/>
              <a:ahLst/>
              <a:cxnLst/>
              <a:rect r="r" b="b" t="t" l="l"/>
              <a:pathLst>
                <a:path h="1412748" w="21079333">
                  <a:moveTo>
                    <a:pt x="0" y="235458"/>
                  </a:moveTo>
                  <a:cubicBezTo>
                    <a:pt x="0" y="105410"/>
                    <a:pt x="105410" y="0"/>
                    <a:pt x="235458" y="0"/>
                  </a:cubicBezTo>
                  <a:lnTo>
                    <a:pt x="20843875" y="0"/>
                  </a:lnTo>
                  <a:cubicBezTo>
                    <a:pt x="20973923" y="0"/>
                    <a:pt x="21079333" y="105410"/>
                    <a:pt x="21079333" y="235458"/>
                  </a:cubicBezTo>
                  <a:lnTo>
                    <a:pt x="21079333" y="1177290"/>
                  </a:lnTo>
                  <a:cubicBezTo>
                    <a:pt x="21079333" y="1307338"/>
                    <a:pt x="20973923" y="1412748"/>
                    <a:pt x="20843875" y="1412748"/>
                  </a:cubicBezTo>
                  <a:lnTo>
                    <a:pt x="235458" y="1412748"/>
                  </a:lnTo>
                  <a:cubicBezTo>
                    <a:pt x="105410" y="1412748"/>
                    <a:pt x="0" y="1307338"/>
                    <a:pt x="0" y="1177290"/>
                  </a:cubicBezTo>
                  <a:close/>
                </a:path>
              </a:pathLst>
            </a:custGeom>
            <a:solidFill>
              <a:srgbClr val="E6E4D9"/>
            </a:solidFill>
            <a:ln w="9525" cap="sq">
              <a:solidFill>
                <a:srgbClr val="C9C8BF"/>
              </a:solidFill>
              <a:prstDash val="solid"/>
              <a:miter/>
            </a:ln>
          </p:spPr>
        </p:sp>
        <p:sp>
          <p:nvSpPr>
            <p:cNvPr name="TextBox 13" id="13"/>
            <p:cNvSpPr txBox="true"/>
            <p:nvPr/>
          </p:nvSpPr>
          <p:spPr>
            <a:xfrm>
              <a:off x="0" y="-28575"/>
              <a:ext cx="21079371" cy="1441272"/>
            </a:xfrm>
            <a:prstGeom prst="rect">
              <a:avLst/>
            </a:prstGeom>
          </p:spPr>
          <p:txBody>
            <a:bodyPr anchor="ctr" rtlCol="false" tIns="50800" lIns="50800" bIns="50800" rIns="50800"/>
            <a:lstStyle/>
            <a:p>
              <a:pPr algn="l">
                <a:lnSpc>
                  <a:spcPts val="2900"/>
                </a:lnSpc>
              </a:pPr>
              <a:r>
                <a:rPr lang="en-US" sz="2300" b="true">
                  <a:solidFill>
                    <a:srgbClr val="2B2C30"/>
                  </a:solidFill>
                  <a:latin typeface="Public Sans 2 Bold"/>
                  <a:ea typeface="Public Sans 2 Bold"/>
                  <a:cs typeface="Public Sans 2 Bold"/>
                  <a:sym typeface="Public Sans 2 Bold"/>
                </a:rPr>
                <a:t>That branch faithfully models message loss → 100% TV. Fidelity has a price: more accurate ≠ more efficient.</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555424" y="8975364"/>
            <a:ext cx="2732576" cy="1311636"/>
          </a:xfrm>
          <a:custGeom>
            <a:avLst/>
            <a:gdLst/>
            <a:ahLst/>
            <a:cxnLst/>
            <a:rect r="r" b="b" t="t" l="l"/>
            <a:pathLst>
              <a:path h="1311636" w="2732576">
                <a:moveTo>
                  <a:pt x="0" y="0"/>
                </a:moveTo>
                <a:lnTo>
                  <a:pt x="2732576" y="0"/>
                </a:lnTo>
                <a:lnTo>
                  <a:pt x="2732576" y="1311636"/>
                </a:lnTo>
                <a:lnTo>
                  <a:pt x="0" y="1311636"/>
                </a:lnTo>
                <a:lnTo>
                  <a:pt x="0" y="0"/>
                </a:lnTo>
                <a:close/>
              </a:path>
            </a:pathLst>
          </a:custGeom>
          <a:blipFill>
            <a:blip r:embed="rId3"/>
            <a:stretch>
              <a:fillRect l="0" t="0" r="0" b="0"/>
            </a:stretch>
          </a:blipFill>
        </p:spPr>
      </p:sp>
      <p:sp>
        <p:nvSpPr>
          <p:cNvPr name="TextBox 4" id="4"/>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1 Bold"/>
                <a:ea typeface="Public Sans 1 Bold"/>
                <a:cs typeface="Public Sans 1 Bold"/>
                <a:sym typeface="Public Sans 1 Bold"/>
              </a:rPr>
              <a:t>LIMITATIONS</a:t>
            </a:r>
          </a:p>
        </p:txBody>
      </p:sp>
      <p:sp>
        <p:nvSpPr>
          <p:cNvPr name="TextBox 5" id="5"/>
          <p:cNvSpPr txBox="true"/>
          <p:nvPr/>
        </p:nvSpPr>
        <p:spPr>
          <a:xfrm rot="0">
            <a:off x="1028689" y="2217540"/>
            <a:ext cx="16917526" cy="3463290"/>
          </a:xfrm>
          <a:prstGeom prst="rect">
            <a:avLst/>
          </a:prstGeom>
        </p:spPr>
        <p:txBody>
          <a:bodyPr anchor="t" rtlCol="false" tIns="0" lIns="0" bIns="0" rIns="0">
            <a:spAutoFit/>
          </a:bodyPr>
          <a:lstStyle/>
          <a:p>
            <a:pPr algn="l" marL="561341" indent="-280670" lvl="1">
              <a:lnSpc>
                <a:spcPts val="3900"/>
              </a:lnSpc>
              <a:buFont typeface="Arial"/>
              <a:buChar char="•"/>
            </a:pPr>
            <a:r>
              <a:rPr lang="en-US" b="true" sz="2600">
                <a:solidFill>
                  <a:srgbClr val="2B2C30"/>
                </a:solidFill>
                <a:latin typeface="Public Sans 1 Bold"/>
                <a:ea typeface="Public Sans 1 Bold"/>
                <a:cs typeface="Public Sans 1 Bold"/>
                <a:sym typeface="Public Sans 1 Bold"/>
              </a:rPr>
              <a:t>Narrow protocol scope: </a:t>
            </a:r>
            <a:r>
              <a:rPr lang="en-US" sz="2600">
                <a:solidFill>
                  <a:srgbClr val="2B2C30"/>
                </a:solidFill>
                <a:latin typeface="Public Sans 1"/>
                <a:ea typeface="Public Sans 1"/>
                <a:cs typeface="Public Sans 1"/>
                <a:sym typeface="Public Sans 1"/>
              </a:rPr>
              <a:t>single-decree Essential Paxos, not full Paxos or industrial systems</a:t>
            </a:r>
          </a:p>
          <a:p>
            <a:pPr algn="l">
              <a:lnSpc>
                <a:spcPts val="3900"/>
              </a:lnSpc>
            </a:pPr>
          </a:p>
          <a:p>
            <a:pPr algn="l" marL="561341" indent="-280670" lvl="1">
              <a:lnSpc>
                <a:spcPts val="3900"/>
              </a:lnSpc>
              <a:buFont typeface="Arial"/>
              <a:buChar char="•"/>
            </a:pPr>
            <a:r>
              <a:rPr lang="en-US" b="true" sz="2600">
                <a:solidFill>
                  <a:srgbClr val="2B2C30"/>
                </a:solidFill>
                <a:latin typeface="Public Sans 1 Bold"/>
                <a:ea typeface="Public Sans 1 Bold"/>
                <a:cs typeface="Public Sans 1 Bold"/>
                <a:sym typeface="Public Sans 1 Bold"/>
              </a:rPr>
              <a:t>Bounded verification: </a:t>
            </a:r>
            <a:r>
              <a:rPr lang="en-US" sz="2600">
                <a:solidFill>
                  <a:srgbClr val="2B2C30"/>
                </a:solidFill>
                <a:latin typeface="Public Sans 1"/>
                <a:ea typeface="Public Sans 1"/>
                <a:cs typeface="Public Sans 1"/>
                <a:sym typeface="Public Sans 1"/>
              </a:rPr>
              <a:t>TLC</a:t>
            </a:r>
            <a:r>
              <a:rPr lang="en-US" sz="2600">
                <a:solidFill>
                  <a:srgbClr val="2B2C30"/>
                </a:solidFill>
                <a:latin typeface="Public Sans 1"/>
                <a:ea typeface="Public Sans 1"/>
                <a:cs typeface="Public Sans 1"/>
                <a:sym typeface="Public Sans 1"/>
              </a:rPr>
              <a:t> proves invaria</a:t>
            </a:r>
            <a:r>
              <a:rPr lang="en-US" sz="2600">
                <a:solidFill>
                  <a:srgbClr val="2B2C30"/>
                </a:solidFill>
                <a:latin typeface="Public Sans 1"/>
                <a:ea typeface="Public Sans 1"/>
                <a:cs typeface="Public Sans 1"/>
                <a:sym typeface="Public Sans 1"/>
              </a:rPr>
              <a:t>nts only for the checked configurations, not all configurations</a:t>
            </a:r>
          </a:p>
          <a:p>
            <a:pPr algn="l">
              <a:lnSpc>
                <a:spcPts val="3900"/>
              </a:lnSpc>
            </a:pPr>
          </a:p>
          <a:p>
            <a:pPr algn="l" marL="561341" indent="-280670" lvl="1">
              <a:lnSpc>
                <a:spcPts val="3900"/>
              </a:lnSpc>
              <a:buFont typeface="Arial"/>
              <a:buChar char="•"/>
            </a:pPr>
            <a:r>
              <a:rPr lang="en-US" b="true" sz="2600">
                <a:solidFill>
                  <a:srgbClr val="2B2C30"/>
                </a:solidFill>
                <a:latin typeface="Public Sans 1 Bold"/>
                <a:ea typeface="Public Sans 1 Bold"/>
                <a:cs typeface="Public Sans 1 Bold"/>
                <a:sym typeface="Public Sans 1 Bold"/>
              </a:rPr>
              <a:t>Par</a:t>
            </a:r>
            <a:r>
              <a:rPr lang="en-US" b="true" sz="2600">
                <a:solidFill>
                  <a:srgbClr val="2B2C30"/>
                </a:solidFill>
                <a:latin typeface="Public Sans 1 Bold"/>
                <a:ea typeface="Public Sans 1 Bold"/>
                <a:cs typeface="Public Sans 1 Bold"/>
                <a:sym typeface="Public Sans 1 Bold"/>
              </a:rPr>
              <a:t>tial behavioral coverage: </a:t>
            </a:r>
            <a:r>
              <a:rPr lang="en-US" sz="2600">
                <a:solidFill>
                  <a:srgbClr val="2B2C30"/>
                </a:solidFill>
                <a:latin typeface="Public Sans 1"/>
                <a:ea typeface="Public Sans 1"/>
                <a:cs typeface="Public Sans 1"/>
                <a:sym typeface="Public Sans 1"/>
              </a:rPr>
              <a:t>TV</a:t>
            </a:r>
            <a:r>
              <a:rPr lang="en-US" sz="2600">
                <a:solidFill>
                  <a:srgbClr val="2B2C30"/>
                </a:solidFill>
                <a:latin typeface="Public Sans 1"/>
                <a:ea typeface="Public Sans 1"/>
                <a:cs typeface="Public Sans 1"/>
                <a:sym typeface="Public Sans 1"/>
              </a:rPr>
              <a:t> uses 4 deterministic traces, so it cannot cover </a:t>
            </a:r>
            <a:r>
              <a:rPr lang="en-US" sz="2600">
                <a:solidFill>
                  <a:srgbClr val="2B2C30"/>
                </a:solidFill>
                <a:latin typeface="Public Sans 1"/>
                <a:ea typeface="Public Sans 1"/>
                <a:cs typeface="Public Sans 1"/>
                <a:sym typeface="Public Sans 1"/>
              </a:rPr>
              <a:t>all executions</a:t>
            </a:r>
          </a:p>
          <a:p>
            <a:pPr algn="l">
              <a:lnSpc>
                <a:spcPts val="3900"/>
              </a:lnSpc>
            </a:pPr>
          </a:p>
          <a:p>
            <a:pPr algn="l" marL="561341" indent="-280670" lvl="1">
              <a:lnSpc>
                <a:spcPts val="3900"/>
              </a:lnSpc>
              <a:buFont typeface="Arial"/>
              <a:buChar char="•"/>
            </a:pPr>
            <a:r>
              <a:rPr lang="en-US" b="true" sz="2600">
                <a:solidFill>
                  <a:srgbClr val="2B2C30"/>
                </a:solidFill>
                <a:latin typeface="Public Sans 1 Bold"/>
                <a:ea typeface="Public Sans 1 Bold"/>
                <a:cs typeface="Public Sans 1 Bold"/>
                <a:sym typeface="Public Sans 1 Bold"/>
              </a:rPr>
              <a:t>L</a:t>
            </a:r>
            <a:r>
              <a:rPr lang="en-US" b="true" sz="2600">
                <a:solidFill>
                  <a:srgbClr val="2B2C30"/>
                </a:solidFill>
                <a:latin typeface="Public Sans 1 Bold"/>
                <a:ea typeface="Public Sans 1 Bold"/>
                <a:cs typeface="Public Sans 1 Bold"/>
                <a:sym typeface="Public Sans 1 Bold"/>
              </a:rPr>
              <a:t>imited generality: </a:t>
            </a:r>
            <a:r>
              <a:rPr lang="en-US" sz="2600">
                <a:solidFill>
                  <a:srgbClr val="2B2C30"/>
                </a:solidFill>
                <a:latin typeface="Public Sans 1"/>
                <a:ea typeface="Public Sans 1"/>
                <a:cs typeface="Public Sans 1"/>
                <a:sym typeface="Public Sans 1"/>
              </a:rPr>
              <a:t>one protocol, two models, no repeated trials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555424" y="8975364"/>
            <a:ext cx="2732576" cy="1311636"/>
          </a:xfrm>
          <a:custGeom>
            <a:avLst/>
            <a:gdLst/>
            <a:ahLst/>
            <a:cxnLst/>
            <a:rect r="r" b="b" t="t" l="l"/>
            <a:pathLst>
              <a:path h="1311636" w="2732576">
                <a:moveTo>
                  <a:pt x="0" y="0"/>
                </a:moveTo>
                <a:lnTo>
                  <a:pt x="2732576" y="0"/>
                </a:lnTo>
                <a:lnTo>
                  <a:pt x="2732576" y="1311636"/>
                </a:lnTo>
                <a:lnTo>
                  <a:pt x="0" y="1311636"/>
                </a:lnTo>
                <a:lnTo>
                  <a:pt x="0" y="0"/>
                </a:lnTo>
                <a:close/>
              </a:path>
            </a:pathLst>
          </a:custGeom>
          <a:blipFill>
            <a:blip r:embed="rId3"/>
            <a:stretch>
              <a:fillRect l="0" t="0" r="0" b="0"/>
            </a:stretch>
          </a:blipFill>
        </p:spPr>
      </p:sp>
      <p:sp>
        <p:nvSpPr>
          <p:cNvPr name="TextBox 4" id="4"/>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1 Bold"/>
                <a:ea typeface="Public Sans 1 Bold"/>
                <a:cs typeface="Public Sans 1 Bold"/>
                <a:sym typeface="Public Sans 1 Bold"/>
              </a:rPr>
              <a:t>CONCLUSION</a:t>
            </a:r>
          </a:p>
        </p:txBody>
      </p:sp>
      <p:sp>
        <p:nvSpPr>
          <p:cNvPr name="TextBox 5" id="5"/>
          <p:cNvSpPr txBox="true"/>
          <p:nvPr/>
        </p:nvSpPr>
        <p:spPr>
          <a:xfrm rot="0">
            <a:off x="1028689" y="2208015"/>
            <a:ext cx="10964442" cy="1704975"/>
          </a:xfrm>
          <a:prstGeom prst="rect">
            <a:avLst/>
          </a:prstGeom>
        </p:spPr>
        <p:txBody>
          <a:bodyPr anchor="t" rtlCol="false" tIns="0" lIns="0" bIns="0" rIns="0">
            <a:spAutoFit/>
          </a:bodyPr>
          <a:lstStyle/>
          <a:p>
            <a:pPr algn="l">
              <a:lnSpc>
                <a:spcPts val="4500"/>
              </a:lnSpc>
            </a:pPr>
            <a:r>
              <a:rPr lang="en-US" sz="3000" i="true">
                <a:solidFill>
                  <a:srgbClr val="2B2C30"/>
                </a:solidFill>
                <a:latin typeface="Public Sans 1 Italics"/>
                <a:ea typeface="Public Sans 1 Italics"/>
                <a:cs typeface="Public Sans 1 Italics"/>
                <a:sym typeface="Public Sans 1 Italics"/>
              </a:rPr>
              <a:t>D</a:t>
            </a:r>
            <a:r>
              <a:rPr lang="en-US" sz="3000" i="true">
                <a:solidFill>
                  <a:srgbClr val="2B2C30"/>
                </a:solidFill>
                <a:latin typeface="Public Sans 1 Italics"/>
                <a:ea typeface="Public Sans 1 Italics"/>
                <a:cs typeface="Public Sans 1 Italics"/>
                <a:sym typeface="Public Sans 1 Italics"/>
              </a:rPr>
              <a:t>oes </a:t>
            </a:r>
            <a:r>
              <a:rPr lang="en-US" sz="3000" i="true">
                <a:solidFill>
                  <a:srgbClr val="2B2C30"/>
                </a:solidFill>
                <a:latin typeface="Public Sans 1 Italics"/>
                <a:ea typeface="Public Sans 1 Italics"/>
                <a:cs typeface="Public Sans 1 Italics"/>
                <a:sym typeface="Public Sans 1 Italics"/>
              </a:rPr>
              <a:t>feedback-driven</a:t>
            </a:r>
            <a:r>
              <a:rPr lang="en-US" sz="3000" i="true">
                <a:solidFill>
                  <a:srgbClr val="2B2C30"/>
                </a:solidFill>
                <a:latin typeface="Public Sans 1 Italics"/>
                <a:ea typeface="Public Sans 1 Italics"/>
                <a:cs typeface="Public Sans 1 Italics"/>
                <a:sym typeface="Public Sans 1 Italics"/>
              </a:rPr>
              <a:t> prompt ref</a:t>
            </a:r>
            <a:r>
              <a:rPr lang="en-US" sz="3000" i="true">
                <a:solidFill>
                  <a:srgbClr val="2B2C30"/>
                </a:solidFill>
                <a:latin typeface="Public Sans 1 Italics"/>
                <a:ea typeface="Public Sans 1 Italics"/>
                <a:cs typeface="Public Sans 1 Italics"/>
                <a:sym typeface="Public Sans 1 Italics"/>
              </a:rPr>
              <a:t>inement impr</a:t>
            </a:r>
            <a:r>
              <a:rPr lang="en-US" sz="3000" i="true">
                <a:solidFill>
                  <a:srgbClr val="2B2C30"/>
                </a:solidFill>
                <a:latin typeface="Public Sans 1 Italics"/>
                <a:ea typeface="Public Sans 1 Italics"/>
                <a:cs typeface="Public Sans 1 Italics"/>
                <a:sym typeface="Public Sans 1 Italics"/>
              </a:rPr>
              <a:t>ove the quality of LLM-gener</a:t>
            </a:r>
            <a:r>
              <a:rPr lang="en-US" sz="3000" i="true">
                <a:solidFill>
                  <a:srgbClr val="2B2C30"/>
                </a:solidFill>
                <a:latin typeface="Public Sans 1 Italics"/>
                <a:ea typeface="Public Sans 1 Italics"/>
                <a:cs typeface="Public Sans 1 Italics"/>
                <a:sym typeface="Public Sans 1 Italics"/>
              </a:rPr>
              <a:t>ated TLA+ specifications, and are the resulting prompts transferable across Claude and GPT?</a:t>
            </a:r>
          </a:p>
        </p:txBody>
      </p:sp>
      <p:sp>
        <p:nvSpPr>
          <p:cNvPr name="TextBox 6" id="6"/>
          <p:cNvSpPr txBox="true"/>
          <p:nvPr/>
        </p:nvSpPr>
        <p:spPr>
          <a:xfrm rot="0">
            <a:off x="1006871" y="4532115"/>
            <a:ext cx="10964442" cy="3463290"/>
          </a:xfrm>
          <a:prstGeom prst="rect">
            <a:avLst/>
          </a:prstGeom>
        </p:spPr>
        <p:txBody>
          <a:bodyPr anchor="t" rtlCol="false" tIns="0" lIns="0" bIns="0" rIns="0">
            <a:spAutoFit/>
          </a:bodyPr>
          <a:lstStyle/>
          <a:p>
            <a:pPr algn="l" marL="561342" indent="-280671" lvl="1">
              <a:lnSpc>
                <a:spcPts val="3900"/>
              </a:lnSpc>
              <a:buFont typeface="Arial"/>
              <a:buChar char="•"/>
            </a:pPr>
            <a:r>
              <a:rPr lang="en-US" b="true" sz="2600">
                <a:solidFill>
                  <a:srgbClr val="2B2C30"/>
                </a:solidFill>
                <a:latin typeface="Public Sans 1 Bold"/>
                <a:ea typeface="Public Sans 1 Bold"/>
                <a:cs typeface="Public Sans 1 Bold"/>
                <a:sym typeface="Public Sans 1 Bold"/>
              </a:rPr>
              <a:t>Yes: </a:t>
            </a:r>
            <a:r>
              <a:rPr lang="en-US" sz="2600">
                <a:solidFill>
                  <a:srgbClr val="2B2C30"/>
                </a:solidFill>
                <a:latin typeface="Public Sans 1"/>
                <a:ea typeface="Public Sans 1"/>
                <a:cs typeface="Public Sans 1"/>
                <a:sym typeface="Public Sans 1"/>
              </a:rPr>
              <a:t>feedback improved both models from failing to passing; both models failed single-pass</a:t>
            </a:r>
          </a:p>
          <a:p>
            <a:pPr algn="l" marL="561342" indent="-280671" lvl="1">
              <a:lnSpc>
                <a:spcPts val="3900"/>
              </a:lnSpc>
              <a:buFont typeface="Arial"/>
              <a:buChar char="•"/>
            </a:pPr>
            <a:r>
              <a:rPr lang="en-US" b="true" sz="2600">
                <a:solidFill>
                  <a:srgbClr val="2B2C30"/>
                </a:solidFill>
                <a:latin typeface="Public Sans 1 Bold"/>
                <a:ea typeface="Public Sans 1 Bold"/>
                <a:cs typeface="Public Sans 1 Bold"/>
                <a:sym typeface="Public Sans 1 Bold"/>
              </a:rPr>
              <a:t>No:</a:t>
            </a:r>
            <a:r>
              <a:rPr lang="en-US" sz="2600">
                <a:solidFill>
                  <a:srgbClr val="2B2C30"/>
                </a:solidFill>
                <a:latin typeface="Public Sans 1"/>
                <a:ea typeface="Public Sans 1"/>
                <a:cs typeface="Public Sans 1"/>
                <a:sym typeface="Public Sans 1"/>
              </a:rPr>
              <a:t> refined prompts are brittle and model-specific, they don't transfer</a:t>
            </a:r>
          </a:p>
          <a:p>
            <a:pPr algn="l" marL="561342" indent="-280671" lvl="1">
              <a:lnSpc>
                <a:spcPts val="3900"/>
              </a:lnSpc>
              <a:buFont typeface="Arial"/>
              <a:buChar char="•"/>
            </a:pPr>
            <a:r>
              <a:rPr lang="en-US" b="true" sz="2600">
                <a:solidFill>
                  <a:srgbClr val="2B2C30"/>
                </a:solidFill>
                <a:latin typeface="Public Sans 1 Bold"/>
                <a:ea typeface="Public Sans 1 Bold"/>
                <a:cs typeface="Public Sans 1 Bold"/>
                <a:sym typeface="Public Sans 1 Bold"/>
              </a:rPr>
              <a:t>Key bottleneck</a:t>
            </a:r>
            <a:r>
              <a:rPr lang="en-US" sz="2600">
                <a:solidFill>
                  <a:srgbClr val="2B2C30"/>
                </a:solidFill>
                <a:latin typeface="Public Sans 1"/>
                <a:ea typeface="Public Sans 1"/>
                <a:cs typeface="Public Sans 1"/>
                <a:sym typeface="Public Sans 1"/>
              </a:rPr>
              <a:t>: semantic conformance, not just compilation</a:t>
            </a:r>
          </a:p>
          <a:p>
            <a:pPr algn="l" marL="561342" indent="-280671" lvl="1">
              <a:lnSpc>
                <a:spcPts val="3900"/>
              </a:lnSpc>
              <a:buFont typeface="Arial"/>
              <a:buChar char="•"/>
            </a:pPr>
            <a:r>
              <a:rPr lang="en-US" b="true" sz="2600">
                <a:solidFill>
                  <a:srgbClr val="2B2C30"/>
                </a:solidFill>
                <a:latin typeface="Public Sans 1 Bold"/>
                <a:ea typeface="Public Sans 1 Bold"/>
                <a:cs typeface="Public Sans 1 Bold"/>
                <a:sym typeface="Public Sans 1 Bold"/>
              </a:rPr>
              <a:t>Next step: </a:t>
            </a:r>
            <a:r>
              <a:rPr lang="en-US" sz="2600">
                <a:solidFill>
                  <a:srgbClr val="2B2C30"/>
                </a:solidFill>
                <a:latin typeface="Public Sans 1"/>
                <a:ea typeface="Public Sans 1"/>
                <a:cs typeface="Public Sans 1"/>
                <a:sym typeface="Public Sans 1"/>
              </a:rPr>
              <a:t>evaluate on richer protocols (Raft, CURP) and repeat runs to test generality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706" y="4514765"/>
            <a:ext cx="16230594" cy="38509"/>
          </a:xfrm>
          <a:prstGeom prst="line">
            <a:avLst/>
          </a:prstGeom>
          <a:ln cap="flat" w="9525">
            <a:solidFill>
              <a:srgbClr val="2B2C30"/>
            </a:solidFill>
            <a:prstDash val="solid"/>
            <a:headEnd type="none" len="sm" w="sm"/>
            <a:tailEnd type="none" len="sm" w="sm"/>
          </a:ln>
        </p:spPr>
      </p:sp>
      <p:sp>
        <p:nvSpPr>
          <p:cNvPr name="TextBox 3" id="3"/>
          <p:cNvSpPr txBox="true"/>
          <p:nvPr/>
        </p:nvSpPr>
        <p:spPr>
          <a:xfrm rot="0">
            <a:off x="850974" y="2332416"/>
            <a:ext cx="16408332" cy="2084083"/>
          </a:xfrm>
          <a:prstGeom prst="rect">
            <a:avLst/>
          </a:prstGeom>
        </p:spPr>
        <p:txBody>
          <a:bodyPr anchor="t" rtlCol="false" tIns="0" lIns="0" bIns="0" rIns="0">
            <a:spAutoFit/>
          </a:bodyPr>
          <a:lstStyle/>
          <a:p>
            <a:pPr algn="l">
              <a:lnSpc>
                <a:spcPts val="15250"/>
              </a:lnSpc>
            </a:pPr>
            <a:r>
              <a:rPr lang="en-US" sz="16758" spc="83">
                <a:solidFill>
                  <a:srgbClr val="2B2C30"/>
                </a:solidFill>
                <a:latin typeface="Playfair Display"/>
                <a:ea typeface="Playfair Display"/>
                <a:cs typeface="Playfair Display"/>
                <a:sym typeface="Playfair Display"/>
              </a:rPr>
              <a:t>Thank you!</a:t>
            </a:r>
          </a:p>
        </p:txBody>
      </p:sp>
      <p:sp>
        <p:nvSpPr>
          <p:cNvPr name="Freeform 4" id="4"/>
          <p:cNvSpPr/>
          <p:nvPr/>
        </p:nvSpPr>
        <p:spPr>
          <a:xfrm flipH="false" flipV="false" rot="0">
            <a:off x="15555424" y="8975364"/>
            <a:ext cx="2732576" cy="1311636"/>
          </a:xfrm>
          <a:custGeom>
            <a:avLst/>
            <a:gdLst/>
            <a:ahLst/>
            <a:cxnLst/>
            <a:rect r="r" b="b" t="t" l="l"/>
            <a:pathLst>
              <a:path h="1311636" w="2732576">
                <a:moveTo>
                  <a:pt x="0" y="0"/>
                </a:moveTo>
                <a:lnTo>
                  <a:pt x="2732576" y="0"/>
                </a:lnTo>
                <a:lnTo>
                  <a:pt x="2732576" y="1311636"/>
                </a:lnTo>
                <a:lnTo>
                  <a:pt x="0" y="1311636"/>
                </a:lnTo>
                <a:lnTo>
                  <a:pt x="0" y="0"/>
                </a:lnTo>
                <a:close/>
              </a:path>
            </a:pathLst>
          </a:custGeom>
          <a:blipFill>
            <a:blip r:embed="rId3"/>
            <a:stretch>
              <a:fillRect l="0" t="0" r="0" b="0"/>
            </a:stretch>
          </a:blipFill>
        </p:spPr>
      </p:sp>
      <p:sp>
        <p:nvSpPr>
          <p:cNvPr name="TextBox 5" id="5"/>
          <p:cNvSpPr txBox="true"/>
          <p:nvPr/>
        </p:nvSpPr>
        <p:spPr>
          <a:xfrm rot="0">
            <a:off x="1016407" y="8041005"/>
            <a:ext cx="7862435" cy="1303020"/>
          </a:xfrm>
          <a:prstGeom prst="rect">
            <a:avLst/>
          </a:prstGeom>
        </p:spPr>
        <p:txBody>
          <a:bodyPr anchor="t" rtlCol="false" tIns="0" lIns="0" bIns="0" rIns="0">
            <a:spAutoFit/>
          </a:bodyPr>
          <a:lstStyle/>
          <a:p>
            <a:pPr algn="l">
              <a:lnSpc>
                <a:spcPts val="3450"/>
              </a:lnSpc>
            </a:pPr>
            <a:r>
              <a:rPr lang="en-US" sz="2300">
                <a:solidFill>
                  <a:srgbClr val="2B2C30"/>
                </a:solidFill>
                <a:latin typeface="Public Sans 1"/>
                <a:ea typeface="Public Sans 1"/>
                <a:cs typeface="Public Sans 1"/>
                <a:sym typeface="Public Sans 1"/>
              </a:rPr>
              <a:t>Ana Mako​</a:t>
            </a:r>
          </a:p>
          <a:p>
            <a:pPr algn="l">
              <a:lnSpc>
                <a:spcPts val="3450"/>
              </a:lnSpc>
            </a:pPr>
            <a:r>
              <a:rPr lang="en-US" sz="2300">
                <a:solidFill>
                  <a:srgbClr val="2B2C30"/>
                </a:solidFill>
                <a:latin typeface="Public Sans 1"/>
                <a:ea typeface="Public Sans 1"/>
                <a:cs typeface="Public Sans 1"/>
                <a:sym typeface="Public Sans 1"/>
              </a:rPr>
              <a:t>Vuk Jurišić​</a:t>
            </a:r>
          </a:p>
          <a:p>
            <a:pPr algn="l">
              <a:lnSpc>
                <a:spcPts val="3450"/>
              </a:lnSpc>
            </a:pPr>
            <a:r>
              <a:rPr lang="en-US" sz="2300">
                <a:solidFill>
                  <a:srgbClr val="2B2C30"/>
                </a:solidFill>
                <a:latin typeface="Public Sans 1"/>
                <a:ea typeface="Public Sans 1"/>
                <a:cs typeface="Public Sans 1"/>
                <a:sym typeface="Public Sans 1"/>
              </a:rPr>
              <a:t>Giorgos Mark</a:t>
            </a:r>
            <a:r>
              <a:rPr lang="en-US" sz="2300">
                <a:solidFill>
                  <a:srgbClr val="2B2C30"/>
                </a:solidFill>
                <a:latin typeface="Public Sans 1"/>
                <a:ea typeface="Public Sans 1"/>
                <a:cs typeface="Public Sans 1"/>
                <a:sym typeface="Public Sans 1"/>
              </a:rPr>
              <a:t>ozanis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DAHNNZnB7Cg</dc:identifier>
  <dcterms:modified xsi:type="dcterms:W3CDTF">2011-08-01T06:04:30Z</dcterms:modified>
  <cp:revision>1</cp:revision>
  <dc:title>Copy of Model CheckingGuided Testing forDistributed Systems​</dc:title>
</cp:coreProperties>
</file>